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one-liner: Sentinel sits between an AI agent and its signer and refuses to sign anything that violates policy, fails simulation, or touches known-malicious addresses. Key framing for any grant audience: this is not an idea seeking funding to be built — it is built, tested, and publicly verifiable; the funding buys assurance and adoption. TAILOR BEFORE PRESENTING: add your name/handle under the title, and check the ask slide numbers against the program you are pitching.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is documented, not hypothetical — cite the April 2026 router-injection research. Emphasize the structural gap: guardrails exist only inside closed platforms; there is no open, self-hostable, wallet-agnostic equivalent. For Base: add that agent commerce settles in USDC on Base, so Base agents are exactly the exposed population. For ESP: stress that every framework and wallet shares this gap — it is ecosystem infrastructure, not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differentiator — spend time here. The infamous drainer move looks like a payment but grants an unlimited approval; on effects it is caught trivially. If asked "why not parse calldata": multicalls, proxies, and novel contracts make static parsing an arms race; execution on a fork is ground truth. Mention deny-safe design: simulation failure never falls through to ALLOW — it escalates or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Point out that the engine itself is pure and does no I/O — simulation and feed data arrive as inputs, which makes every decision auditable and the engine trivially testable. The same pipeline polices EIP-712 signatures (permits, Permit2, Seaport orders) and ERC-4337 userOperations — one policy, every signing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committee’s biggest fear — "will they ship?" — with the strongest possible evidence: it is already shipped. Every box is verifiable in the repo; do not oversell beyond what CI proves. If time is short, name three: fork simulation (the differentiator), signature guarding (most real drains are gasless permits, not transactions), and the MCP server (the motivating attack is a malicious tool layer, so the wallet tool itself enforces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get one live moment with a reviewer, run this. It requires only foundry’s anvil and exits green in seconds. The point to land: "the attack is blocked" is a continuously verified property of the codebase — CI runs this replay on every commit — not a marketing claim. Scene 3 doubles as honesty: caps and escalation bound what allowlists cannot see; known limits are documented in SPEC §10, which is worth saying out loud to a technical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ESP slide, but Base cares too: an open safety layer accelerates their agent ecosystem without lock-in. The "considered and rejected a paid tier" line matters — it preempts the grant-washing suspicion. If asked about sustainability: retro funding once adoption is demonstrable, plus the maintenance retainer in the ask; anything security-critical stays free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structure of the ask is the pitch: nothing here funds features we could quietly build anyway — an audit requires third parties, upstream integrations require maintainer collaboration, maintenance requires time commitment, and v0.4 is genuinely open research. CHECK AMOUNTS against the current program tier before presenting, and adjust the footer for whichever program you are in front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portion here: reviewers do not need to trust the deck, the README, or you. The disclosure line is deliberate — a security tool that hides its limits is worse than none, and technical committees reward projects that state TOCTOU and coverage limits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process notes: grants flow through the Base ecosystem/builder-grant forms and rounds (check base.org/builders and the Base Discord for the current intake), and awards skew toward shipped, visibly-used projects. Sequence: publish to npm first, post the demo, then apply — the application should link a package people can already install. Expect a short form, not an essay; paste the one-liner, the demo link, the repo, and the 2–5 ETH ask. Follow up in public channels rather than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at esp.ethereum.foundation. Strategy call to make before submitting: $30k small-grant (faster) vs $36k project grant (full ask) — if cash-flow matters, take the small grant and drop the maintenance retainer to a follow-on. ESP rewards intellectual honesty: volunteer the SPEC §10 limits before they ask. If a milestone ships while the application is pending, send it as an update — demonstrated velocity during review is rare and memorable.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three-beat close and stop talking. BEFORE SHARING: (1) add your name and contact here and on the title slide; (2) confirm the ask numbers per program; (3) if presenting live, have anvil installed so npm run demo works on the spot. The full submission checklist lives in docs/STATUS.md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sp>
        <p:nvSpPr>
          <p:cNvPr id="2" name="Shape 0"/>
          <p:cNvSpPr/>
          <p:nvPr/>
        </p:nvSpPr>
        <p:spPr>
          <a:xfrm>
            <a:off x="822960" y="1325880"/>
            <a:ext cx="1005840" cy="1005840"/>
          </a:xfrm>
          <a:prstGeom prst="ellipse">
            <a:avLst/>
          </a:prstGeom>
          <a:solidFill>
            <a:srgbClr val="182436"/>
          </a:solidFill>
          <a:ln/>
        </p:spPr>
      </p:sp>
      <p:pic>
        <p:nvPicPr>
          <p:cNvPr id="3" name="Image 0" descr="preencoded.png">    </p:cNvPr>
          <p:cNvPicPr>
            <a:picLocks noChangeAspect="1"/>
          </p:cNvPicPr>
          <p:nvPr/>
        </p:nvPicPr>
        <p:blipFill>
          <a:blip r:embed="rId1"/>
          <a:stretch>
            <a:fillRect/>
          </a:stretch>
        </p:blipFill>
        <p:spPr>
          <a:xfrm>
            <a:off x="1042416" y="1545336"/>
            <a:ext cx="566928" cy="566928"/>
          </a:xfrm>
          <a:prstGeom prst="rect">
            <a:avLst/>
          </a:prstGeom>
        </p:spPr>
      </p:pic>
      <p:sp>
        <p:nvSpPr>
          <p:cNvPr id="4" name="Text 1"/>
          <p:cNvSpPr/>
          <p:nvPr/>
        </p:nvSpPr>
        <p:spPr>
          <a:xfrm>
            <a:off x="777240" y="2468880"/>
            <a:ext cx="10607040" cy="1051560"/>
          </a:xfrm>
          <a:prstGeom prst="rect">
            <a:avLst/>
          </a:prstGeom>
          <a:noFill/>
          <a:ln/>
        </p:spPr>
        <p:txBody>
          <a:bodyPr wrap="square" lIns="0" tIns="0" rIns="0" bIns="0" rtlCol="0" anchor="ctr"/>
          <a:lstStyle/>
          <a:p>
            <a:pPr indent="0" marL="0">
              <a:buNone/>
            </a:pPr>
            <a:r>
              <a:rPr lang="en-US" sz="6000" b="1" spc="400" kern="0" dirty="0">
                <a:solidFill>
                  <a:srgbClr val="FFFFFF"/>
                </a:solidFill>
                <a:latin typeface="Cambria" pitchFamily="34" charset="0"/>
                <a:ea typeface="Cambria" pitchFamily="34" charset="-122"/>
                <a:cs typeface="Cambria" pitchFamily="34" charset="-120"/>
              </a:rPr>
              <a:t>SENTINEL</a:t>
            </a:r>
            <a:endParaRPr lang="en-US" sz="6000" dirty="0"/>
          </a:p>
        </p:txBody>
      </p:sp>
      <p:sp>
        <p:nvSpPr>
          <p:cNvPr id="5" name="Text 2"/>
          <p:cNvSpPr/>
          <p:nvPr/>
        </p:nvSpPr>
        <p:spPr>
          <a:xfrm>
            <a:off x="822960" y="3520440"/>
            <a:ext cx="10515600" cy="548640"/>
          </a:xfrm>
          <a:prstGeom prst="rect">
            <a:avLst/>
          </a:prstGeom>
          <a:noFill/>
          <a:ln/>
        </p:spPr>
        <p:txBody>
          <a:bodyPr wrap="square" lIns="0" tIns="0" rIns="0" bIns="0" rtlCol="0" anchor="ctr"/>
          <a:lstStyle/>
          <a:p>
            <a:pPr indent="0" marL="0">
              <a:buNone/>
            </a:pPr>
            <a:r>
              <a:rPr lang="en-US" sz="2200" dirty="0">
                <a:solidFill>
                  <a:srgbClr val="C4D4EA"/>
                </a:solidFill>
                <a:latin typeface="Calibri" pitchFamily="34" charset="0"/>
                <a:ea typeface="Calibri" pitchFamily="34" charset="-122"/>
                <a:cs typeface="Calibri" pitchFamily="34" charset="-120"/>
              </a:rPr>
              <a:t>The open-source signing firewall for AI agent wallets</a:t>
            </a:r>
            <a:endParaRPr lang="en-US" sz="2200" dirty="0"/>
          </a:p>
        </p:txBody>
      </p:sp>
      <p:sp>
        <p:nvSpPr>
          <p:cNvPr id="6" name="Text 3"/>
          <p:cNvSpPr/>
          <p:nvPr/>
        </p:nvSpPr>
        <p:spPr>
          <a:xfrm>
            <a:off x="822960" y="4069080"/>
            <a:ext cx="10515600" cy="457200"/>
          </a:xfrm>
          <a:prstGeom prst="rect">
            <a:avLst/>
          </a:prstGeom>
          <a:noFill/>
          <a:ln/>
        </p:spPr>
        <p:txBody>
          <a:bodyPr wrap="square" lIns="0" tIns="0" rIns="0" bIns="0" rtlCol="0" anchor="ctr"/>
          <a:lstStyle/>
          <a:p>
            <a:pPr indent="0" marL="0">
              <a:buNone/>
            </a:pPr>
            <a:r>
              <a:rPr lang="en-US" sz="1500" dirty="0">
                <a:solidFill>
                  <a:srgbClr val="C4D4EA"/>
                </a:solidFill>
                <a:latin typeface="Calibri" pitchFamily="34" charset="0"/>
                <a:ea typeface="Calibri" pitchFamily="34" charset="-122"/>
                <a:cs typeface="Calibri" pitchFamily="34" charset="-120"/>
              </a:rPr>
              <a:t>Blocks malicious transactions and signatures </a:t>
            </a:r>
            <a:pPr indent="0" marL="0">
              <a:buNone/>
            </a:pPr>
            <a:r>
              <a:rPr lang="en-US" sz="1500" i="1" dirty="0">
                <a:solidFill>
                  <a:srgbClr val="1FC79A"/>
                </a:solidFill>
                <a:latin typeface="Calibri" pitchFamily="34" charset="0"/>
                <a:ea typeface="Calibri" pitchFamily="34" charset="-122"/>
                <a:cs typeface="Calibri" pitchFamily="34" charset="-120"/>
              </a:rPr>
              <a:t>before</a:t>
            </a:r>
            <a:pPr indent="0" marL="0">
              <a:buNone/>
            </a:pPr>
            <a:r>
              <a:rPr lang="en-US" sz="1500" dirty="0">
                <a:solidFill>
                  <a:srgbClr val="C4D4EA"/>
                </a:solidFill>
                <a:latin typeface="Calibri" pitchFamily="34" charset="0"/>
                <a:ea typeface="Calibri" pitchFamily="34" charset="-122"/>
                <a:cs typeface="Calibri" pitchFamily="34" charset="-120"/>
              </a:rPr>
              <a:t> they are signed — by judging what they actually do.</a:t>
            </a:r>
            <a:endParaRPr lang="en-US" sz="1500" dirty="0"/>
          </a:p>
        </p:txBody>
      </p:sp>
      <p:sp>
        <p:nvSpPr>
          <p:cNvPr id="7"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github.com/star7js/sentinel   ·   npm: sentinel-firewall   ·   MIT · no token · self-hosted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400" b="1" dirty="0">
                <a:solidFill>
                  <a:srgbClr val="15243B"/>
                </a:solidFill>
                <a:latin typeface="Cambria" pitchFamily="34" charset="0"/>
                <a:ea typeface="Cambria" pitchFamily="34" charset="-122"/>
                <a:cs typeface="Cambria" pitchFamily="34" charset="-120"/>
              </a:rPr>
              <a:t>AI agents hold keys. The tool layer is the weak link.</a:t>
            </a:r>
            <a:endParaRPr lang="en-US" sz="3400" dirty="0"/>
          </a:p>
        </p:txBody>
      </p:sp>
      <p:sp>
        <p:nvSpPr>
          <p:cNvPr id="3" name="Text 1"/>
          <p:cNvSpPr/>
          <p:nvPr/>
        </p:nvSpPr>
        <p:spPr>
          <a:xfrm>
            <a:off x="640080" y="1554480"/>
            <a:ext cx="6035040" cy="3931920"/>
          </a:xfrm>
          <a:prstGeom prst="rect">
            <a:avLst/>
          </a:prstGeom>
          <a:noFill/>
          <a:ln/>
        </p:spPr>
        <p:txBody>
          <a:bodyPr wrap="square" lIns="0" tIns="0" rIns="0" bIns="0" rtlCol="0" anchor="ctr"/>
          <a:lstStyle/>
          <a:p>
            <a:pPr indent="0" marL="0">
              <a:lnSpc>
                <a:spcPct val="115000"/>
              </a:lnSpc>
              <a:buNone/>
            </a:pPr>
            <a:r>
              <a:rPr lang="en-US" sz="1700" dirty="0">
                <a:solidFill>
                  <a:srgbClr val="15243B"/>
                </a:solidFill>
                <a:latin typeface="Calibri" pitchFamily="34" charset="0"/>
                <a:ea typeface="Calibri" pitchFamily="34" charset="-122"/>
                <a:cs typeface="Calibri" pitchFamily="34" charset="-120"/>
              </a:rPr>
              <a:t>Agent wallets shipped at scale in 2026 — the security layer did not keep up.
</a:t>
            </a:r>
            <a:pPr indent="0" marL="0">
              <a:lnSpc>
                <a:spcPct val="115000"/>
              </a:lnSpc>
              <a:buNone/>
            </a:pPr>
            <a:r>
              <a:rPr lang="en-US" sz="1700" dirty="0">
                <a:solidFill>
                  <a:srgbClr val="15243B"/>
                </a:solidFill>
                <a:latin typeface="Calibri" pitchFamily="34" charset="0"/>
                <a:ea typeface="Calibri" pitchFamily="34" charset="-122"/>
                <a:cs typeface="Calibri" pitchFamily="34" charset="-120"/>
              </a:rPr>
              <a:t>In April 2026, researchers (UCSB, UCSD, Fuzzland, WLF) documented a live attack class: </a:t>
            </a:r>
            <a:pPr indent="0" marL="0">
              <a:lnSpc>
                <a:spcPct val="115000"/>
              </a:lnSpc>
              <a:buNone/>
            </a:pPr>
            <a:r>
              <a:rPr lang="en-US" sz="1700" b="1" dirty="0">
                <a:solidFill>
                  <a:srgbClr val="15243B"/>
                </a:solidFill>
                <a:latin typeface="Calibri" pitchFamily="34" charset="0"/>
                <a:ea typeface="Calibri" pitchFamily="34" charset="-122"/>
                <a:cs typeface="Calibri" pitchFamily="34" charset="-120"/>
              </a:rPr>
              <a:t>compromised LLM routers injecting tool calls</a:t>
            </a:r>
            <a:pPr indent="0" marL="0">
              <a:lnSpc>
                <a:spcPct val="115000"/>
              </a:lnSpc>
              <a:buNone/>
            </a:pPr>
            <a:r>
              <a:rPr lang="en-US" sz="1700" dirty="0">
                <a:solidFill>
                  <a:srgbClr val="15243B"/>
                </a:solidFill>
                <a:latin typeface="Calibri" pitchFamily="34" charset="0"/>
                <a:ea typeface="Calibri" pitchFamily="34" charset="-122"/>
                <a:cs typeface="Calibri" pitchFamily="34" charset="-120"/>
              </a:rPr>
              <a:t> between the user’s intent and the agent’s execution.
</a:t>
            </a:r>
            <a:pPr indent="0" marL="0">
              <a:lnSpc>
                <a:spcPct val="115000"/>
              </a:lnSpc>
              <a:buNone/>
            </a:pPr>
            <a:r>
              <a:rPr lang="en-US" sz="1700" i="1" dirty="0">
                <a:solidFill>
                  <a:srgbClr val="5B6B80"/>
                </a:solidFill>
                <a:latin typeface="Calibri" pitchFamily="34" charset="0"/>
                <a:ea typeface="Calibri" pitchFamily="34" charset="-122"/>
                <a:cs typeface="Calibri" pitchFamily="34" charset="-120"/>
              </a:rPr>
              <a:t>The transaction the agent intends and the transaction that reaches the signer can differ — and nothing independent checks.</a:t>
            </a:r>
            <a:endParaRPr lang="en-US" sz="1700" dirty="0"/>
          </a:p>
        </p:txBody>
      </p:sp>
      <p:sp>
        <p:nvSpPr>
          <p:cNvPr id="4" name="Shape 2"/>
          <p:cNvSpPr/>
          <p:nvPr/>
        </p:nvSpPr>
        <p:spPr>
          <a:xfrm>
            <a:off x="7223760" y="1463040"/>
            <a:ext cx="4297680" cy="2011680"/>
          </a:xfrm>
          <a:prstGeom prst="roundRect">
            <a:avLst>
              <a:gd name="adj" fmla="val 5455"/>
            </a:avLst>
          </a:prstGeom>
          <a:solidFill>
            <a:srgbClr val="F2F6FB"/>
          </a:solidFill>
          <a:ln/>
        </p:spPr>
      </p:sp>
      <p:sp>
        <p:nvSpPr>
          <p:cNvPr id="5" name="Text 3"/>
          <p:cNvSpPr/>
          <p:nvPr/>
        </p:nvSpPr>
        <p:spPr>
          <a:xfrm>
            <a:off x="7223760" y="1691640"/>
            <a:ext cx="4297680" cy="868680"/>
          </a:xfrm>
          <a:prstGeom prst="rect">
            <a:avLst/>
          </a:prstGeom>
          <a:noFill/>
          <a:ln/>
        </p:spPr>
        <p:txBody>
          <a:bodyPr wrap="square" lIns="0" tIns="0" rIns="0" bIns="0" rtlCol="0" anchor="ctr"/>
          <a:lstStyle/>
          <a:p>
            <a:pPr algn="ctr" indent="0" marL="0">
              <a:buNone/>
            </a:pPr>
            <a:r>
              <a:rPr lang="en-US" sz="5200" b="1" dirty="0">
                <a:solidFill>
                  <a:srgbClr val="D64545"/>
                </a:solidFill>
                <a:latin typeface="Cambria" pitchFamily="34" charset="0"/>
                <a:ea typeface="Cambria" pitchFamily="34" charset="-122"/>
                <a:cs typeface="Cambria" pitchFamily="34" charset="-120"/>
              </a:rPr>
              <a:t>$500,000</a:t>
            </a:r>
            <a:endParaRPr lang="en-US" sz="5200" dirty="0"/>
          </a:p>
        </p:txBody>
      </p:sp>
      <p:sp>
        <p:nvSpPr>
          <p:cNvPr id="6" name="Text 4"/>
          <p:cNvSpPr/>
          <p:nvPr/>
        </p:nvSpPr>
        <p:spPr>
          <a:xfrm>
            <a:off x="7498080" y="2651760"/>
            <a:ext cx="3749040" cy="640080"/>
          </a:xfrm>
          <a:prstGeom prst="rect">
            <a:avLst/>
          </a:prstGeom>
          <a:noFill/>
          <a:ln/>
        </p:spPr>
        <p:txBody>
          <a:bodyPr wrap="square" lIns="0" tIns="0" rIns="0" bIns="0" rtlCol="0" anchor="ctr"/>
          <a:lstStyle/>
          <a:p>
            <a:pPr algn="ctr" indent="0" marL="0">
              <a:buNone/>
            </a:pPr>
            <a:r>
              <a:rPr lang="en-US" sz="1300" dirty="0">
                <a:solidFill>
                  <a:srgbClr val="5B6B80"/>
                </a:solidFill>
                <a:latin typeface="Calibri" pitchFamily="34" charset="0"/>
                <a:ea typeface="Calibri" pitchFamily="34" charset="-122"/>
                <a:cs typeface="Calibri" pitchFamily="34" charset="-120"/>
              </a:rPr>
              <a:t>drained from one wallet by an injected tool call</a:t>
            </a:r>
            <a:endParaRPr lang="en-US" sz="1300" dirty="0"/>
          </a:p>
        </p:txBody>
      </p:sp>
      <p:sp>
        <p:nvSpPr>
          <p:cNvPr id="7" name="Shape 5"/>
          <p:cNvSpPr/>
          <p:nvPr/>
        </p:nvSpPr>
        <p:spPr>
          <a:xfrm>
            <a:off x="7223760" y="3703320"/>
            <a:ext cx="4297680" cy="2011680"/>
          </a:xfrm>
          <a:prstGeom prst="roundRect">
            <a:avLst>
              <a:gd name="adj" fmla="val 5455"/>
            </a:avLst>
          </a:prstGeom>
          <a:solidFill>
            <a:srgbClr val="F2F6FB"/>
          </a:solidFill>
          <a:ln/>
        </p:spPr>
      </p:sp>
      <p:sp>
        <p:nvSpPr>
          <p:cNvPr id="8" name="Text 6"/>
          <p:cNvSpPr/>
          <p:nvPr/>
        </p:nvSpPr>
        <p:spPr>
          <a:xfrm>
            <a:off x="7223760" y="3931920"/>
            <a:ext cx="4297680" cy="868680"/>
          </a:xfrm>
          <a:prstGeom prst="rect">
            <a:avLst/>
          </a:prstGeom>
          <a:noFill/>
          <a:ln/>
        </p:spPr>
        <p:txBody>
          <a:bodyPr wrap="square" lIns="0" tIns="0" rIns="0" bIns="0" rtlCol="0" anchor="ctr"/>
          <a:lstStyle/>
          <a:p>
            <a:pPr algn="ctr" indent="0" marL="0">
              <a:buNone/>
            </a:pPr>
            <a:r>
              <a:rPr lang="en-US" sz="5200" b="1" dirty="0">
                <a:solidFill>
                  <a:srgbClr val="D64545"/>
                </a:solidFill>
                <a:latin typeface="Cambria" pitchFamily="34" charset="0"/>
                <a:ea typeface="Cambria" pitchFamily="34" charset="-122"/>
                <a:cs typeface="Cambria" pitchFamily="34" charset="-120"/>
              </a:rPr>
              <a:t>26</a:t>
            </a:r>
            <a:endParaRPr lang="en-US" sz="5200" dirty="0"/>
          </a:p>
        </p:txBody>
      </p:sp>
      <p:sp>
        <p:nvSpPr>
          <p:cNvPr id="9" name="Text 7"/>
          <p:cNvSpPr/>
          <p:nvPr/>
        </p:nvSpPr>
        <p:spPr>
          <a:xfrm>
            <a:off x="7498080" y="4892040"/>
            <a:ext cx="3749040" cy="640080"/>
          </a:xfrm>
          <a:prstGeom prst="rect">
            <a:avLst/>
          </a:prstGeom>
          <a:noFill/>
          <a:ln/>
        </p:spPr>
        <p:txBody>
          <a:bodyPr wrap="square" lIns="0" tIns="0" rIns="0" bIns="0" rtlCol="0" anchor="ctr"/>
          <a:lstStyle/>
          <a:p>
            <a:pPr algn="ctr" indent="0" marL="0">
              <a:buNone/>
            </a:pPr>
            <a:r>
              <a:rPr lang="en-US" sz="1300" dirty="0">
                <a:solidFill>
                  <a:srgbClr val="5B6B80"/>
                </a:solidFill>
                <a:latin typeface="Calibri" pitchFamily="34" charset="0"/>
                <a:ea typeface="Calibri" pitchFamily="34" charset="-122"/>
                <a:cs typeface="Calibri" pitchFamily="34" charset="-120"/>
              </a:rPr>
              <a:t>LLM routers caught secretly injecting tool calls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400" b="1" dirty="0">
                <a:solidFill>
                  <a:srgbClr val="15243B"/>
                </a:solidFill>
                <a:latin typeface="Cambria" pitchFamily="34" charset="0"/>
                <a:ea typeface="Cambria" pitchFamily="34" charset="-122"/>
                <a:cs typeface="Cambria" pitchFamily="34" charset="-120"/>
              </a:rPr>
              <a:t>Judge what a transaction does — not what it claims</a:t>
            </a:r>
            <a:endParaRPr lang="en-US" sz="3400" dirty="0"/>
          </a:p>
        </p:txBody>
      </p:sp>
      <p:sp>
        <p:nvSpPr>
          <p:cNvPr id="3" name="Shape 1"/>
          <p:cNvSpPr/>
          <p:nvPr/>
        </p:nvSpPr>
        <p:spPr>
          <a:xfrm>
            <a:off x="640080" y="1645920"/>
            <a:ext cx="5212080" cy="3291840"/>
          </a:xfrm>
          <a:prstGeom prst="roundRect">
            <a:avLst>
              <a:gd name="adj" fmla="val 3333"/>
            </a:avLst>
          </a:prstGeom>
          <a:solidFill>
            <a:srgbClr val="F2F6FB"/>
          </a:solidFill>
          <a:ln/>
        </p:spPr>
      </p:sp>
      <p:sp>
        <p:nvSpPr>
          <p:cNvPr id="4" name="Text 2"/>
          <p:cNvSpPr/>
          <p:nvPr/>
        </p:nvSpPr>
        <p:spPr>
          <a:xfrm>
            <a:off x="1005840" y="1920240"/>
            <a:ext cx="4480560" cy="365760"/>
          </a:xfrm>
          <a:prstGeom prst="rect">
            <a:avLst/>
          </a:prstGeom>
          <a:noFill/>
          <a:ln/>
        </p:spPr>
        <p:txBody>
          <a:bodyPr wrap="square" lIns="0" tIns="0" rIns="0" bIns="0" rtlCol="0" anchor="ctr"/>
          <a:lstStyle/>
          <a:p>
            <a:pPr indent="0" marL="0">
              <a:buNone/>
            </a:pPr>
            <a:r>
              <a:rPr lang="en-US" sz="1300" b="1" spc="100" kern="0" dirty="0">
                <a:solidFill>
                  <a:srgbClr val="5B6B80"/>
                </a:solidFill>
                <a:latin typeface="Calibri" pitchFamily="34" charset="0"/>
                <a:ea typeface="Calibri" pitchFamily="34" charset="-122"/>
                <a:cs typeface="Calibri" pitchFamily="34" charset="-120"/>
              </a:rPr>
              <a:t>WHAT THE CALLDATA CLAIMS</a:t>
            </a:r>
            <a:endParaRPr lang="en-US" sz="1300" dirty="0"/>
          </a:p>
        </p:txBody>
      </p:sp>
      <p:sp>
        <p:nvSpPr>
          <p:cNvPr id="5" name="Text 3"/>
          <p:cNvSpPr/>
          <p:nvPr/>
        </p:nvSpPr>
        <p:spPr>
          <a:xfrm>
            <a:off x="1005840" y="2377440"/>
            <a:ext cx="4480560" cy="548640"/>
          </a:xfrm>
          <a:prstGeom prst="rect">
            <a:avLst/>
          </a:prstGeom>
          <a:noFill/>
          <a:ln/>
        </p:spPr>
        <p:txBody>
          <a:bodyPr wrap="square" lIns="0" tIns="0" rIns="0" bIns="0" rtlCol="0" anchor="ctr"/>
          <a:lstStyle/>
          <a:p>
            <a:pPr indent="0" marL="0">
              <a:buNone/>
            </a:pPr>
            <a:r>
              <a:rPr lang="en-US" sz="1900" i="1" dirty="0">
                <a:solidFill>
                  <a:srgbClr val="15243B"/>
                </a:solidFill>
                <a:latin typeface="Calibri" pitchFamily="34" charset="0"/>
                <a:ea typeface="Calibri" pitchFamily="34" charset="-122"/>
                <a:cs typeface="Calibri" pitchFamily="34" charset="-120"/>
              </a:rPr>
              <a:t>“Pay 10 USDC to the API provider”</a:t>
            </a:r>
            <a:endParaRPr lang="en-US" sz="1900" dirty="0"/>
          </a:p>
        </p:txBody>
      </p:sp>
      <p:sp>
        <p:nvSpPr>
          <p:cNvPr id="6" name="Text 4"/>
          <p:cNvSpPr/>
          <p:nvPr/>
        </p:nvSpPr>
        <p:spPr>
          <a:xfrm>
            <a:off x="1005840" y="3200400"/>
            <a:ext cx="4480560" cy="1463040"/>
          </a:xfrm>
          <a:prstGeom prst="rect">
            <a:avLst/>
          </a:prstGeom>
          <a:noFill/>
          <a:ln/>
        </p:spPr>
        <p:txBody>
          <a:bodyPr wrap="square" lIns="0" tIns="0" rIns="0" bIns="0" rtlCol="0" anchor="ctr"/>
          <a:lstStyle/>
          <a:p>
            <a:pPr indent="0" marL="0">
              <a:lnSpc>
                <a:spcPct val="115000"/>
              </a:lnSpc>
              <a:buNone/>
            </a:pPr>
            <a:r>
              <a:rPr lang="en-US" sz="1400" dirty="0">
                <a:solidFill>
                  <a:srgbClr val="5B6B80"/>
                </a:solidFill>
                <a:latin typeface="Calibri" pitchFamily="34" charset="0"/>
                <a:ea typeface="Calibri" pitchFamily="34" charset="-122"/>
                <a:cs typeface="Calibri" pitchFamily="34" charset="-120"/>
              </a:rPr>
              <a:t>An injected call is indistinguishable from a legitimate one by looking at the request. Allowlists and calldata parsing can be gamed.</a:t>
            </a:r>
            <a:endParaRPr lang="en-US" sz="1400" dirty="0"/>
          </a:p>
        </p:txBody>
      </p:sp>
      <p:sp>
        <p:nvSpPr>
          <p:cNvPr id="7" name="Shape 5"/>
          <p:cNvSpPr/>
          <p:nvPr/>
        </p:nvSpPr>
        <p:spPr>
          <a:xfrm>
            <a:off x="6309360" y="1645920"/>
            <a:ext cx="5212080" cy="3291840"/>
          </a:xfrm>
          <a:prstGeom prst="roundRect">
            <a:avLst>
              <a:gd name="adj" fmla="val 3333"/>
            </a:avLst>
          </a:prstGeom>
          <a:solidFill>
            <a:srgbClr val="0E1726"/>
          </a:solidFill>
          <a:ln/>
        </p:spPr>
      </p:sp>
      <p:sp>
        <p:nvSpPr>
          <p:cNvPr id="8" name="Text 6"/>
          <p:cNvSpPr/>
          <p:nvPr/>
        </p:nvSpPr>
        <p:spPr>
          <a:xfrm>
            <a:off x="6675120" y="1920240"/>
            <a:ext cx="4480560" cy="365760"/>
          </a:xfrm>
          <a:prstGeom prst="rect">
            <a:avLst/>
          </a:prstGeom>
          <a:noFill/>
          <a:ln/>
        </p:spPr>
        <p:txBody>
          <a:bodyPr wrap="square" lIns="0" tIns="0" rIns="0" bIns="0" rtlCol="0" anchor="ctr"/>
          <a:lstStyle/>
          <a:p>
            <a:pPr indent="0" marL="0">
              <a:buNone/>
            </a:pPr>
            <a:r>
              <a:rPr lang="en-US" sz="1300" b="1" spc="100" kern="0" dirty="0">
                <a:solidFill>
                  <a:srgbClr val="C4D4EA"/>
                </a:solidFill>
                <a:latin typeface="Calibri" pitchFamily="34" charset="0"/>
                <a:ea typeface="Calibri" pitchFamily="34" charset="-122"/>
                <a:cs typeface="Calibri" pitchFamily="34" charset="-120"/>
              </a:rPr>
              <a:t>WHAT IT ACTUALLY DOES (simulated on a fork)</a:t>
            </a:r>
            <a:endParaRPr lang="en-US" sz="1300" dirty="0"/>
          </a:p>
        </p:txBody>
      </p:sp>
      <p:sp>
        <p:nvSpPr>
          <p:cNvPr id="9" name="Text 7"/>
          <p:cNvSpPr/>
          <p:nvPr/>
        </p:nvSpPr>
        <p:spPr>
          <a:xfrm>
            <a:off x="6675120" y="2377440"/>
            <a:ext cx="4480560" cy="548640"/>
          </a:xfrm>
          <a:prstGeom prst="rect">
            <a:avLst/>
          </a:prstGeom>
          <a:noFill/>
          <a:ln/>
        </p:spPr>
        <p:txBody>
          <a:bodyPr wrap="square" lIns="0" tIns="0" rIns="0" bIns="0" rtlCol="0" anchor="ctr"/>
          <a:lstStyle/>
          <a:p>
            <a:pPr indent="0" marL="0">
              <a:buNone/>
            </a:pPr>
            <a:r>
              <a:rPr lang="en-US" sz="1800" b="1" dirty="0">
                <a:solidFill>
                  <a:srgbClr val="D64545"/>
                </a:solidFill>
                <a:latin typeface="Courier New" pitchFamily="34" charset="0"/>
                <a:ea typeface="Courier New" pitchFamily="34" charset="-122"/>
                <a:cs typeface="Courier New" pitchFamily="34" charset="-120"/>
              </a:rPr>
              <a:t>approve(drainer, 2²⁵⁶−1)</a:t>
            </a:r>
            <a:endParaRPr lang="en-US" sz="1800" dirty="0"/>
          </a:p>
        </p:txBody>
      </p:sp>
      <p:sp>
        <p:nvSpPr>
          <p:cNvPr id="10" name="Text 8"/>
          <p:cNvSpPr/>
          <p:nvPr/>
        </p:nvSpPr>
        <p:spPr>
          <a:xfrm>
            <a:off x="6675120" y="3200400"/>
            <a:ext cx="4480560" cy="1463040"/>
          </a:xfrm>
          <a:prstGeom prst="rect">
            <a:avLst/>
          </a:prstGeom>
          <a:noFill/>
          <a:ln/>
        </p:spPr>
        <p:txBody>
          <a:bodyPr wrap="square" lIns="0" tIns="0" rIns="0" bIns="0" rtlCol="0" anchor="ctr"/>
          <a:lstStyle/>
          <a:p>
            <a:pPr indent="0" marL="0">
              <a:lnSpc>
                <a:spcPct val="115000"/>
              </a:lnSpc>
              <a:buNone/>
            </a:pPr>
            <a:r>
              <a:rPr lang="en-US" sz="1400" dirty="0">
                <a:solidFill>
                  <a:srgbClr val="C4D4EA"/>
                </a:solidFill>
                <a:latin typeface="Calibri" pitchFamily="34" charset="0"/>
                <a:ea typeface="Calibri" pitchFamily="34" charset="-122"/>
                <a:cs typeface="Calibri" pitchFamily="34" charset="-120"/>
              </a:rPr>
              <a:t>Sentinel executes every candidate on a local fork and decodes the real effects: balance changes, approvals granted, delegations set, contracts touched. Policy applies to those.</a:t>
            </a:r>
            <a:endParaRPr lang="en-US" sz="1400" dirty="0"/>
          </a:p>
        </p:txBody>
      </p:sp>
      <p:sp>
        <p:nvSpPr>
          <p:cNvPr id="11" name="Text 9"/>
          <p:cNvSpPr/>
          <p:nvPr/>
        </p:nvSpPr>
        <p:spPr>
          <a:xfrm>
            <a:off x="640080" y="5394960"/>
            <a:ext cx="10881360" cy="548640"/>
          </a:xfrm>
          <a:prstGeom prst="rect">
            <a:avLst/>
          </a:prstGeom>
          <a:noFill/>
          <a:ln/>
        </p:spPr>
        <p:txBody>
          <a:bodyPr wrap="square" lIns="0" tIns="0" rIns="0" bIns="0" rtlCol="0" anchor="ctr"/>
          <a:lstStyle/>
          <a:p>
            <a:pPr indent="0" marL="0">
              <a:buNone/>
            </a:pPr>
            <a:r>
              <a:rPr lang="en-US" sz="1600" b="1" dirty="0">
                <a:solidFill>
                  <a:srgbClr val="15243B"/>
                </a:solidFill>
                <a:latin typeface="Calibri" pitchFamily="34" charset="0"/>
                <a:ea typeface="Calibri" pitchFamily="34" charset="-122"/>
                <a:cs typeface="Calibri" pitchFamily="34" charset="-120"/>
              </a:rPr>
              <a:t>One line to adopt: </a:t>
            </a:r>
            <a:pPr indent="0" marL="0">
              <a:buNone/>
            </a:pPr>
            <a:r>
              <a:rPr lang="en-US" sz="1600" dirty="0">
                <a:solidFill>
                  <a:srgbClr val="5B6B80"/>
                </a:solidFill>
                <a:latin typeface="Calibri" pitchFamily="34" charset="0"/>
                <a:ea typeface="Calibri" pitchFamily="34" charset="-122"/>
                <a:cs typeface="Calibri" pitchFamily="34" charset="-120"/>
              </a:rPr>
              <a:t>wrap the signer your framework already uses. Out-of-policy transactions throw instead of signing.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400" b="1" dirty="0">
                <a:solidFill>
                  <a:srgbClr val="15243B"/>
                </a:solidFill>
                <a:latin typeface="Cambria" pitchFamily="34" charset="0"/>
                <a:ea typeface="Cambria" pitchFamily="34" charset="-122"/>
                <a:cs typeface="Cambria" pitchFamily="34" charset="-120"/>
              </a:rPr>
              <a:t>Four checks between the agent and the signer</a:t>
            </a:r>
            <a:endParaRPr lang="en-US" sz="3400" dirty="0"/>
          </a:p>
        </p:txBody>
      </p:sp>
      <p:sp>
        <p:nvSpPr>
          <p:cNvPr id="3" name="Shape 1"/>
          <p:cNvSpPr/>
          <p:nvPr/>
        </p:nvSpPr>
        <p:spPr>
          <a:xfrm>
            <a:off x="640080" y="1737360"/>
            <a:ext cx="2606040" cy="3566160"/>
          </a:xfrm>
          <a:prstGeom prst="roundRect">
            <a:avLst>
              <a:gd name="adj" fmla="val 4211"/>
            </a:avLst>
          </a:prstGeom>
          <a:solidFill>
            <a:srgbClr val="F2F6FB"/>
          </a:solidFill>
          <a:ln/>
        </p:spPr>
      </p:sp>
      <p:sp>
        <p:nvSpPr>
          <p:cNvPr id="4" name="Shape 2"/>
          <p:cNvSpPr/>
          <p:nvPr/>
        </p:nvSpPr>
        <p:spPr>
          <a:xfrm>
            <a:off x="1508760" y="2057400"/>
            <a:ext cx="868680" cy="868680"/>
          </a:xfrm>
          <a:prstGeom prst="ellipse">
            <a:avLst/>
          </a:prstGeom>
          <a:solidFill>
            <a:srgbClr val="0E1726"/>
          </a:solidFill>
          <a:ln/>
        </p:spPr>
      </p:sp>
      <p:pic>
        <p:nvPicPr>
          <p:cNvPr id="5" name="Image 0" descr="preencoded.png">    </p:cNvPr>
          <p:cNvPicPr>
            <a:picLocks noChangeAspect="1"/>
          </p:cNvPicPr>
          <p:nvPr/>
        </p:nvPicPr>
        <p:blipFill>
          <a:blip r:embed="rId1"/>
          <a:stretch>
            <a:fillRect/>
          </a:stretch>
        </p:blipFill>
        <p:spPr>
          <a:xfrm>
            <a:off x="1709928" y="2258568"/>
            <a:ext cx="466344" cy="466344"/>
          </a:xfrm>
          <a:prstGeom prst="rect">
            <a:avLst/>
          </a:prstGeom>
        </p:spPr>
      </p:pic>
      <p:sp>
        <p:nvSpPr>
          <p:cNvPr id="6" name="Text 3"/>
          <p:cNvSpPr/>
          <p:nvPr/>
        </p:nvSpPr>
        <p:spPr>
          <a:xfrm>
            <a:off x="777240" y="3108960"/>
            <a:ext cx="2331720" cy="457200"/>
          </a:xfrm>
          <a:prstGeom prst="rect">
            <a:avLst/>
          </a:prstGeom>
          <a:noFill/>
          <a:ln/>
        </p:spPr>
        <p:txBody>
          <a:bodyPr wrap="square" lIns="0" tIns="0" rIns="0" bIns="0" rtlCol="0" anchor="ctr"/>
          <a:lstStyle/>
          <a:p>
            <a:pPr algn="ctr" indent="0" marL="0">
              <a:buNone/>
            </a:pPr>
            <a:r>
              <a:rPr lang="en-US" sz="1900" b="1" dirty="0">
                <a:solidFill>
                  <a:srgbClr val="15243B"/>
                </a:solidFill>
                <a:latin typeface="Cambria" pitchFamily="34" charset="0"/>
                <a:ea typeface="Cambria" pitchFamily="34" charset="-122"/>
                <a:cs typeface="Cambria" pitchFamily="34" charset="-120"/>
              </a:rPr>
              <a:t>Simulate</a:t>
            </a:r>
            <a:endParaRPr lang="en-US" sz="1900" dirty="0"/>
          </a:p>
        </p:txBody>
      </p:sp>
      <p:sp>
        <p:nvSpPr>
          <p:cNvPr id="7" name="Text 4"/>
          <p:cNvSpPr/>
          <p:nvPr/>
        </p:nvSpPr>
        <p:spPr>
          <a:xfrm>
            <a:off x="868680" y="3611880"/>
            <a:ext cx="2148840" cy="1554480"/>
          </a:xfrm>
          <a:prstGeom prst="rect">
            <a:avLst/>
          </a:prstGeom>
          <a:noFill/>
          <a:ln/>
        </p:spPr>
        <p:txBody>
          <a:bodyPr wrap="square" lIns="0" tIns="0" rIns="0" bIns="0" rtlCol="0" anchor="ctr"/>
          <a:lstStyle/>
          <a:p>
            <a:pPr algn="ctr" indent="0" marL="0">
              <a:lnSpc>
                <a:spcPct val="110000"/>
              </a:lnSpc>
              <a:buNone/>
            </a:pPr>
            <a:r>
              <a:rPr lang="en-US" sz="1250" dirty="0">
                <a:solidFill>
                  <a:srgbClr val="5B6B80"/>
                </a:solidFill>
                <a:latin typeface="Calibri" pitchFamily="34" charset="0"/>
                <a:ea typeface="Calibri" pitchFamily="34" charset="-122"/>
                <a:cs typeface="Calibri" pitchFamily="34" charset="-120"/>
              </a:rPr>
              <a:t>Execute on a local fork; decode balance diffs, approvals, delegations, touched contracts</a:t>
            </a:r>
            <a:endParaRPr lang="en-US" sz="1250" dirty="0"/>
          </a:p>
        </p:txBody>
      </p:sp>
      <p:sp>
        <p:nvSpPr>
          <p:cNvPr id="8" name="Shape 5"/>
          <p:cNvSpPr/>
          <p:nvPr/>
        </p:nvSpPr>
        <p:spPr>
          <a:xfrm>
            <a:off x="3502152" y="1737360"/>
            <a:ext cx="2606040" cy="3566160"/>
          </a:xfrm>
          <a:prstGeom prst="roundRect">
            <a:avLst>
              <a:gd name="adj" fmla="val 4211"/>
            </a:avLst>
          </a:prstGeom>
          <a:solidFill>
            <a:srgbClr val="F2F6FB"/>
          </a:solidFill>
          <a:ln/>
        </p:spPr>
      </p:sp>
      <p:sp>
        <p:nvSpPr>
          <p:cNvPr id="9" name="Shape 6"/>
          <p:cNvSpPr/>
          <p:nvPr/>
        </p:nvSpPr>
        <p:spPr>
          <a:xfrm>
            <a:off x="4370832" y="2057400"/>
            <a:ext cx="868680" cy="868680"/>
          </a:xfrm>
          <a:prstGeom prst="ellipse">
            <a:avLst/>
          </a:prstGeom>
          <a:solidFill>
            <a:srgbClr val="0E1726"/>
          </a:solidFill>
          <a:ln/>
        </p:spPr>
      </p:sp>
      <p:pic>
        <p:nvPicPr>
          <p:cNvPr id="10" name="Image 1" descr="preencoded.png">    </p:cNvPr>
          <p:cNvPicPr>
            <a:picLocks noChangeAspect="1"/>
          </p:cNvPicPr>
          <p:nvPr/>
        </p:nvPicPr>
        <p:blipFill>
          <a:blip r:embed="rId2"/>
          <a:stretch>
            <a:fillRect/>
          </a:stretch>
        </p:blipFill>
        <p:spPr>
          <a:xfrm>
            <a:off x="4572000" y="2258568"/>
            <a:ext cx="466344" cy="466344"/>
          </a:xfrm>
          <a:prstGeom prst="rect">
            <a:avLst/>
          </a:prstGeom>
        </p:spPr>
      </p:pic>
      <p:sp>
        <p:nvSpPr>
          <p:cNvPr id="11" name="Text 7"/>
          <p:cNvSpPr/>
          <p:nvPr/>
        </p:nvSpPr>
        <p:spPr>
          <a:xfrm>
            <a:off x="3639312" y="3108960"/>
            <a:ext cx="2331720" cy="457200"/>
          </a:xfrm>
          <a:prstGeom prst="rect">
            <a:avLst/>
          </a:prstGeom>
          <a:noFill/>
          <a:ln/>
        </p:spPr>
        <p:txBody>
          <a:bodyPr wrap="square" lIns="0" tIns="0" rIns="0" bIns="0" rtlCol="0" anchor="ctr"/>
          <a:lstStyle/>
          <a:p>
            <a:pPr algn="ctr" indent="0" marL="0">
              <a:buNone/>
            </a:pPr>
            <a:r>
              <a:rPr lang="en-US" sz="1900" b="1" dirty="0">
                <a:solidFill>
                  <a:srgbClr val="15243B"/>
                </a:solidFill>
                <a:latin typeface="Cambria" pitchFamily="34" charset="0"/>
                <a:ea typeface="Cambria" pitchFamily="34" charset="-122"/>
                <a:cs typeface="Cambria" pitchFamily="34" charset="-120"/>
              </a:rPr>
              <a:t>Evaluate policy</a:t>
            </a:r>
            <a:endParaRPr lang="en-US" sz="1900" dirty="0"/>
          </a:p>
        </p:txBody>
      </p:sp>
      <p:sp>
        <p:nvSpPr>
          <p:cNvPr id="12" name="Text 8"/>
          <p:cNvSpPr/>
          <p:nvPr/>
        </p:nvSpPr>
        <p:spPr>
          <a:xfrm>
            <a:off x="3730752" y="3611880"/>
            <a:ext cx="2148840" cy="1554480"/>
          </a:xfrm>
          <a:prstGeom prst="rect">
            <a:avLst/>
          </a:prstGeom>
          <a:noFill/>
          <a:ln/>
        </p:spPr>
        <p:txBody>
          <a:bodyPr wrap="square" lIns="0" tIns="0" rIns="0" bIns="0" rtlCol="0" anchor="ctr"/>
          <a:lstStyle/>
          <a:p>
            <a:pPr algn="ctr" indent="0" marL="0">
              <a:lnSpc>
                <a:spcPct val="110000"/>
              </a:lnSpc>
              <a:buNone/>
            </a:pPr>
            <a:r>
              <a:rPr lang="en-US" sz="1250" dirty="0">
                <a:solidFill>
                  <a:srgbClr val="5B6B80"/>
                </a:solidFill>
                <a:latin typeface="Calibri" pitchFamily="34" charset="0"/>
                <a:ea typeface="Calibri" pitchFamily="34" charset="-122"/>
                <a:cs typeface="Calibri" pitchFamily="34" charset="-120"/>
              </a:rPr>
              <a:t>Spend caps per tx + session, allowlists, approval limits, 7702 rules, time windows</a:t>
            </a:r>
            <a:endParaRPr lang="en-US" sz="1250" dirty="0"/>
          </a:p>
        </p:txBody>
      </p:sp>
      <p:sp>
        <p:nvSpPr>
          <p:cNvPr id="13" name="Shape 9"/>
          <p:cNvSpPr/>
          <p:nvPr/>
        </p:nvSpPr>
        <p:spPr>
          <a:xfrm>
            <a:off x="6364224" y="1737360"/>
            <a:ext cx="2606040" cy="3566160"/>
          </a:xfrm>
          <a:prstGeom prst="roundRect">
            <a:avLst>
              <a:gd name="adj" fmla="val 4211"/>
            </a:avLst>
          </a:prstGeom>
          <a:solidFill>
            <a:srgbClr val="F2F6FB"/>
          </a:solidFill>
          <a:ln/>
        </p:spPr>
      </p:sp>
      <p:sp>
        <p:nvSpPr>
          <p:cNvPr id="14" name="Shape 10"/>
          <p:cNvSpPr/>
          <p:nvPr/>
        </p:nvSpPr>
        <p:spPr>
          <a:xfrm>
            <a:off x="7232904" y="2057400"/>
            <a:ext cx="868680" cy="868680"/>
          </a:xfrm>
          <a:prstGeom prst="ellipse">
            <a:avLst/>
          </a:prstGeom>
          <a:solidFill>
            <a:srgbClr val="0E1726"/>
          </a:solidFill>
          <a:ln/>
        </p:spPr>
      </p:sp>
      <p:pic>
        <p:nvPicPr>
          <p:cNvPr id="15" name="Image 2" descr="preencoded.png">    </p:cNvPr>
          <p:cNvPicPr>
            <a:picLocks noChangeAspect="1"/>
          </p:cNvPicPr>
          <p:nvPr/>
        </p:nvPicPr>
        <p:blipFill>
          <a:blip r:embed="rId3"/>
          <a:stretch>
            <a:fillRect/>
          </a:stretch>
        </p:blipFill>
        <p:spPr>
          <a:xfrm>
            <a:off x="7434072" y="2258568"/>
            <a:ext cx="466344" cy="466344"/>
          </a:xfrm>
          <a:prstGeom prst="rect">
            <a:avLst/>
          </a:prstGeom>
        </p:spPr>
      </p:pic>
      <p:sp>
        <p:nvSpPr>
          <p:cNvPr id="16" name="Text 11"/>
          <p:cNvSpPr/>
          <p:nvPr/>
        </p:nvSpPr>
        <p:spPr>
          <a:xfrm>
            <a:off x="6501384" y="3108960"/>
            <a:ext cx="2331720" cy="457200"/>
          </a:xfrm>
          <a:prstGeom prst="rect">
            <a:avLst/>
          </a:prstGeom>
          <a:noFill/>
          <a:ln/>
        </p:spPr>
        <p:txBody>
          <a:bodyPr wrap="square" lIns="0" tIns="0" rIns="0" bIns="0" rtlCol="0" anchor="ctr"/>
          <a:lstStyle/>
          <a:p>
            <a:pPr algn="ctr" indent="0" marL="0">
              <a:buNone/>
            </a:pPr>
            <a:r>
              <a:rPr lang="en-US" sz="1900" b="1" dirty="0">
                <a:solidFill>
                  <a:srgbClr val="15243B"/>
                </a:solidFill>
                <a:latin typeface="Cambria" pitchFamily="34" charset="0"/>
                <a:ea typeface="Cambria" pitchFamily="34" charset="-122"/>
                <a:cs typeface="Cambria" pitchFamily="34" charset="-120"/>
              </a:rPr>
              <a:t>Threat feeds</a:t>
            </a:r>
            <a:endParaRPr lang="en-US" sz="1900" dirty="0"/>
          </a:p>
        </p:txBody>
      </p:sp>
      <p:sp>
        <p:nvSpPr>
          <p:cNvPr id="17" name="Text 12"/>
          <p:cNvSpPr/>
          <p:nvPr/>
        </p:nvSpPr>
        <p:spPr>
          <a:xfrm>
            <a:off x="6592824" y="3611880"/>
            <a:ext cx="2148840" cy="1554480"/>
          </a:xfrm>
          <a:prstGeom prst="rect">
            <a:avLst/>
          </a:prstGeom>
          <a:noFill/>
          <a:ln/>
        </p:spPr>
        <p:txBody>
          <a:bodyPr wrap="square" lIns="0" tIns="0" rIns="0" bIns="0" rtlCol="0" anchor="ctr"/>
          <a:lstStyle/>
          <a:p>
            <a:pPr algn="ctr" indent="0" marL="0">
              <a:lnSpc>
                <a:spcPct val="110000"/>
              </a:lnSpc>
              <a:buNone/>
            </a:pPr>
            <a:r>
              <a:rPr lang="en-US" sz="1250" dirty="0">
                <a:solidFill>
                  <a:srgbClr val="5B6B80"/>
                </a:solidFill>
                <a:latin typeface="Calibri" pitchFamily="34" charset="0"/>
                <a:ea typeface="Calibri" pitchFamily="34" charset="-122"/>
                <a:cs typeface="Calibri" pitchFamily="34" charset="-120"/>
              </a:rPr>
              <a:t>Destination and touched addresses checked against open drainer blocklists</a:t>
            </a:r>
            <a:endParaRPr lang="en-US" sz="1250" dirty="0"/>
          </a:p>
        </p:txBody>
      </p:sp>
      <p:sp>
        <p:nvSpPr>
          <p:cNvPr id="18" name="Shape 13"/>
          <p:cNvSpPr/>
          <p:nvPr/>
        </p:nvSpPr>
        <p:spPr>
          <a:xfrm>
            <a:off x="9226296" y="1737360"/>
            <a:ext cx="2606040" cy="3566160"/>
          </a:xfrm>
          <a:prstGeom prst="roundRect">
            <a:avLst>
              <a:gd name="adj" fmla="val 4211"/>
            </a:avLst>
          </a:prstGeom>
          <a:solidFill>
            <a:srgbClr val="0E1726"/>
          </a:solidFill>
          <a:ln/>
        </p:spPr>
      </p:sp>
      <p:sp>
        <p:nvSpPr>
          <p:cNvPr id="19" name="Shape 14"/>
          <p:cNvSpPr/>
          <p:nvPr/>
        </p:nvSpPr>
        <p:spPr>
          <a:xfrm>
            <a:off x="10094976" y="2057400"/>
            <a:ext cx="868680" cy="868680"/>
          </a:xfrm>
          <a:prstGeom prst="ellipse">
            <a:avLst/>
          </a:prstGeom>
          <a:solidFill>
            <a:srgbClr val="128A6C"/>
          </a:solidFill>
          <a:ln/>
        </p:spPr>
      </p:sp>
      <p:pic>
        <p:nvPicPr>
          <p:cNvPr id="20" name="Image 3" descr="preencoded.png">    </p:cNvPr>
          <p:cNvPicPr>
            <a:picLocks noChangeAspect="1"/>
          </p:cNvPicPr>
          <p:nvPr/>
        </p:nvPicPr>
        <p:blipFill>
          <a:blip r:embed="rId4"/>
          <a:stretch>
            <a:fillRect/>
          </a:stretch>
        </p:blipFill>
        <p:spPr>
          <a:xfrm>
            <a:off x="10296144" y="2258568"/>
            <a:ext cx="466344" cy="466344"/>
          </a:xfrm>
          <a:prstGeom prst="rect">
            <a:avLst/>
          </a:prstGeom>
        </p:spPr>
      </p:pic>
      <p:sp>
        <p:nvSpPr>
          <p:cNvPr id="21" name="Text 15"/>
          <p:cNvSpPr/>
          <p:nvPr/>
        </p:nvSpPr>
        <p:spPr>
          <a:xfrm>
            <a:off x="9363456" y="3108960"/>
            <a:ext cx="233172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Decide</a:t>
            </a:r>
            <a:endParaRPr lang="en-US" sz="1900" dirty="0"/>
          </a:p>
        </p:txBody>
      </p:sp>
      <p:sp>
        <p:nvSpPr>
          <p:cNvPr id="22" name="Text 16"/>
          <p:cNvSpPr/>
          <p:nvPr/>
        </p:nvSpPr>
        <p:spPr>
          <a:xfrm>
            <a:off x="9454896" y="3611880"/>
            <a:ext cx="2148840" cy="1554480"/>
          </a:xfrm>
          <a:prstGeom prst="rect">
            <a:avLst/>
          </a:prstGeom>
          <a:noFill/>
          <a:ln/>
        </p:spPr>
        <p:txBody>
          <a:bodyPr wrap="square" lIns="0" tIns="0" rIns="0" bIns="0" rtlCol="0" anchor="ctr"/>
          <a:lstStyle/>
          <a:p>
            <a:pPr algn="ctr" indent="0" marL="0">
              <a:lnSpc>
                <a:spcPct val="110000"/>
              </a:lnSpc>
              <a:buNone/>
            </a:pPr>
            <a:r>
              <a:rPr lang="en-US" sz="1250" dirty="0">
                <a:solidFill>
                  <a:srgbClr val="C4D4EA"/>
                </a:solidFill>
                <a:latin typeface="Calibri" pitchFamily="34" charset="0"/>
                <a:ea typeface="Calibri" pitchFamily="34" charset="-122"/>
                <a:cs typeface="Calibri" pitchFamily="34" charset="-120"/>
              </a:rPr>
              <a:t>ALLOW · BLOCK · or escalate to a human on Telegram with a plain-language summary</a:t>
            </a:r>
            <a:endParaRPr lang="en-US" sz="1250" dirty="0"/>
          </a:p>
        </p:txBody>
      </p:sp>
      <p:sp>
        <p:nvSpPr>
          <p:cNvPr id="23" name="Text 17"/>
          <p:cNvSpPr/>
          <p:nvPr/>
        </p:nvSpPr>
        <p:spPr>
          <a:xfrm>
            <a:off x="640080" y="5623560"/>
            <a:ext cx="10881360" cy="457200"/>
          </a:xfrm>
          <a:prstGeom prst="rect">
            <a:avLst/>
          </a:prstGeom>
          <a:noFill/>
          <a:ln/>
        </p:spPr>
        <p:txBody>
          <a:bodyPr wrap="square" lIns="0" tIns="0" rIns="0" bIns="0" rtlCol="0" anchor="ctr"/>
          <a:lstStyle/>
          <a:p>
            <a:pPr algn="ctr" indent="0" marL="0">
              <a:buNone/>
            </a:pPr>
            <a:r>
              <a:rPr lang="en-US" sz="1600" dirty="0">
                <a:solidFill>
                  <a:srgbClr val="5B6B80"/>
                </a:solidFill>
                <a:latin typeface="Courier New" pitchFamily="34" charset="0"/>
                <a:ea typeface="Courier New" pitchFamily="34" charset="-122"/>
                <a:cs typeface="Courier New" pitchFamily="34" charset="-120"/>
              </a:rPr>
              <a:t>agent  →  tool call  →  [ SENTINEL ]  →  signer  →  chain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400" b="1" dirty="0">
                <a:solidFill>
                  <a:srgbClr val="15243B"/>
                </a:solidFill>
                <a:latin typeface="Cambria" pitchFamily="34" charset="0"/>
                <a:ea typeface="Cambria" pitchFamily="34" charset="-122"/>
                <a:cs typeface="Cambria" pitchFamily="34" charset="-120"/>
              </a:rPr>
              <a:t>Not a roadmap. Shipped, tested, CI-verified.</a:t>
            </a:r>
            <a:endParaRPr lang="en-US" sz="3400" dirty="0"/>
          </a:p>
        </p:txBody>
      </p:sp>
      <p:sp>
        <p:nvSpPr>
          <p:cNvPr id="3" name="Shape 1"/>
          <p:cNvSpPr/>
          <p:nvPr/>
        </p:nvSpPr>
        <p:spPr>
          <a:xfrm>
            <a:off x="640080" y="1600200"/>
            <a:ext cx="2606040" cy="2057400"/>
          </a:xfrm>
          <a:prstGeom prst="roundRect">
            <a:avLst>
              <a:gd name="adj" fmla="val 4444"/>
            </a:avLst>
          </a:prstGeom>
          <a:solidFill>
            <a:srgbClr val="0E1726"/>
          </a:solidFill>
          <a:ln/>
        </p:spPr>
      </p:sp>
      <p:sp>
        <p:nvSpPr>
          <p:cNvPr id="4" name="Shape 2"/>
          <p:cNvSpPr/>
          <p:nvPr/>
        </p:nvSpPr>
        <p:spPr>
          <a:xfrm>
            <a:off x="868680" y="1828800"/>
            <a:ext cx="566928" cy="566928"/>
          </a:xfrm>
          <a:prstGeom prst="ellipse">
            <a:avLst/>
          </a:prstGeom>
          <a:solidFill>
            <a:srgbClr val="182436"/>
          </a:solidFill>
          <a:ln/>
        </p:spPr>
      </p:sp>
      <p:pic>
        <p:nvPicPr>
          <p:cNvPr id="5" name="Image 0" descr="preencoded.png">    </p:cNvPr>
          <p:cNvPicPr>
            <a:picLocks noChangeAspect="1"/>
          </p:cNvPicPr>
          <p:nvPr/>
        </p:nvPicPr>
        <p:blipFill>
          <a:blip r:embed="rId1"/>
          <a:stretch>
            <a:fillRect/>
          </a:stretch>
        </p:blipFill>
        <p:spPr>
          <a:xfrm>
            <a:off x="996696" y="1956816"/>
            <a:ext cx="310896" cy="310896"/>
          </a:xfrm>
          <a:prstGeom prst="rect">
            <a:avLst/>
          </a:prstGeom>
        </p:spPr>
      </p:pic>
      <p:pic>
        <p:nvPicPr>
          <p:cNvPr id="6" name="Image 1" descr="preencoded.png">    </p:cNvPr>
          <p:cNvPicPr>
            <a:picLocks noChangeAspect="1"/>
          </p:cNvPicPr>
          <p:nvPr/>
        </p:nvPicPr>
        <p:blipFill>
          <a:blip r:embed="rId2"/>
          <a:stretch>
            <a:fillRect/>
          </a:stretch>
        </p:blipFill>
        <p:spPr>
          <a:xfrm>
            <a:off x="2788920" y="1892808"/>
            <a:ext cx="274320" cy="274320"/>
          </a:xfrm>
          <a:prstGeom prst="rect">
            <a:avLst/>
          </a:prstGeom>
        </p:spPr>
      </p:pic>
      <p:sp>
        <p:nvSpPr>
          <p:cNvPr id="7" name="Shape 3"/>
          <p:cNvSpPr/>
          <p:nvPr/>
        </p:nvSpPr>
        <p:spPr>
          <a:xfrm>
            <a:off x="2724912" y="1828800"/>
            <a:ext cx="402336" cy="402336"/>
          </a:xfrm>
          <a:prstGeom prst="ellipse">
            <a:avLst/>
          </a:prstGeom>
          <a:ln w="19050">
            <a:solidFill>
              <a:srgbClr val="1FC79A"/>
            </a:solidFill>
            <a:prstDash val="solid"/>
          </a:ln>
        </p:spPr>
      </p:sp>
      <p:sp>
        <p:nvSpPr>
          <p:cNvPr id="8" name="Text 4"/>
          <p:cNvSpPr/>
          <p:nvPr/>
        </p:nvSpPr>
        <p:spPr>
          <a:xfrm>
            <a:off x="868680" y="2514600"/>
            <a:ext cx="21945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Policy engine</a:t>
            </a:r>
            <a:endParaRPr lang="en-US" sz="1550" dirty="0"/>
          </a:p>
        </p:txBody>
      </p:sp>
      <p:sp>
        <p:nvSpPr>
          <p:cNvPr id="9" name="Text 5"/>
          <p:cNvSpPr/>
          <p:nvPr/>
        </p:nvSpPr>
        <p:spPr>
          <a:xfrm>
            <a:off x="868680" y="2880360"/>
            <a:ext cx="2194560" cy="685800"/>
          </a:xfrm>
          <a:prstGeom prst="rect">
            <a:avLst/>
          </a:prstGeom>
          <a:noFill/>
          <a:ln/>
        </p:spPr>
        <p:txBody>
          <a:bodyPr wrap="square" lIns="0" tIns="0" rIns="0" bIns="0" rtlCol="0" anchor="ctr"/>
          <a:lstStyle/>
          <a:p>
            <a:pPr indent="0" marL="0">
              <a:lnSpc>
                <a:spcPct val="105000"/>
              </a:lnSpc>
              <a:buNone/>
            </a:pPr>
            <a:r>
              <a:rPr lang="en-US" sz="1100" dirty="0">
                <a:solidFill>
                  <a:srgbClr val="C4D4EA"/>
                </a:solidFill>
                <a:latin typeface="Calibri" pitchFamily="34" charset="0"/>
                <a:ea typeface="Calibri" pitchFamily="34" charset="-122"/>
                <a:cs typeface="Calibri" pitchFamily="34" charset="-120"/>
              </a:rPr>
              <a:t>11 deny-safe rules; caps survive restarts</a:t>
            </a:r>
            <a:endParaRPr lang="en-US" sz="1100" dirty="0"/>
          </a:p>
        </p:txBody>
      </p:sp>
      <p:sp>
        <p:nvSpPr>
          <p:cNvPr id="10" name="Shape 6"/>
          <p:cNvSpPr/>
          <p:nvPr/>
        </p:nvSpPr>
        <p:spPr>
          <a:xfrm>
            <a:off x="3502152" y="1600200"/>
            <a:ext cx="2606040" cy="2057400"/>
          </a:xfrm>
          <a:prstGeom prst="roundRect">
            <a:avLst>
              <a:gd name="adj" fmla="val 4444"/>
            </a:avLst>
          </a:prstGeom>
          <a:solidFill>
            <a:srgbClr val="0E1726"/>
          </a:solidFill>
          <a:ln/>
        </p:spPr>
      </p:sp>
      <p:sp>
        <p:nvSpPr>
          <p:cNvPr id="11" name="Shape 7"/>
          <p:cNvSpPr/>
          <p:nvPr/>
        </p:nvSpPr>
        <p:spPr>
          <a:xfrm>
            <a:off x="3730752" y="1828800"/>
            <a:ext cx="566928" cy="566928"/>
          </a:xfrm>
          <a:prstGeom prst="ellipse">
            <a:avLst/>
          </a:prstGeom>
          <a:solidFill>
            <a:srgbClr val="182436"/>
          </a:solidFill>
          <a:ln/>
        </p:spPr>
      </p:sp>
      <p:pic>
        <p:nvPicPr>
          <p:cNvPr id="12" name="Image 2" descr="preencoded.png">    </p:cNvPr>
          <p:cNvPicPr>
            <a:picLocks noChangeAspect="1"/>
          </p:cNvPicPr>
          <p:nvPr/>
        </p:nvPicPr>
        <p:blipFill>
          <a:blip r:embed="rId3"/>
          <a:stretch>
            <a:fillRect/>
          </a:stretch>
        </p:blipFill>
        <p:spPr>
          <a:xfrm>
            <a:off x="3858768" y="1956816"/>
            <a:ext cx="310896" cy="310896"/>
          </a:xfrm>
          <a:prstGeom prst="rect">
            <a:avLst/>
          </a:prstGeom>
        </p:spPr>
      </p:pic>
      <p:pic>
        <p:nvPicPr>
          <p:cNvPr id="13" name="Image 3" descr="preencoded.png">    </p:cNvPr>
          <p:cNvPicPr>
            <a:picLocks noChangeAspect="1"/>
          </p:cNvPicPr>
          <p:nvPr/>
        </p:nvPicPr>
        <p:blipFill>
          <a:blip r:embed="rId4"/>
          <a:stretch>
            <a:fillRect/>
          </a:stretch>
        </p:blipFill>
        <p:spPr>
          <a:xfrm>
            <a:off x="5650992" y="1892808"/>
            <a:ext cx="274320" cy="274320"/>
          </a:xfrm>
          <a:prstGeom prst="rect">
            <a:avLst/>
          </a:prstGeom>
        </p:spPr>
      </p:pic>
      <p:sp>
        <p:nvSpPr>
          <p:cNvPr id="14" name="Shape 8"/>
          <p:cNvSpPr/>
          <p:nvPr/>
        </p:nvSpPr>
        <p:spPr>
          <a:xfrm>
            <a:off x="5586984" y="1828800"/>
            <a:ext cx="402336" cy="402336"/>
          </a:xfrm>
          <a:prstGeom prst="ellipse">
            <a:avLst/>
          </a:prstGeom>
          <a:ln w="19050">
            <a:solidFill>
              <a:srgbClr val="1FC79A"/>
            </a:solidFill>
            <a:prstDash val="solid"/>
          </a:ln>
        </p:spPr>
      </p:sp>
      <p:sp>
        <p:nvSpPr>
          <p:cNvPr id="15" name="Text 9"/>
          <p:cNvSpPr/>
          <p:nvPr/>
        </p:nvSpPr>
        <p:spPr>
          <a:xfrm>
            <a:off x="3730752" y="2514600"/>
            <a:ext cx="21945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Fork simulation</a:t>
            </a:r>
            <a:endParaRPr lang="en-US" sz="1550" dirty="0"/>
          </a:p>
        </p:txBody>
      </p:sp>
      <p:sp>
        <p:nvSpPr>
          <p:cNvPr id="16" name="Text 10"/>
          <p:cNvSpPr/>
          <p:nvPr/>
        </p:nvSpPr>
        <p:spPr>
          <a:xfrm>
            <a:off x="3730752" y="2880360"/>
            <a:ext cx="2194560" cy="685800"/>
          </a:xfrm>
          <a:prstGeom prst="rect">
            <a:avLst/>
          </a:prstGeom>
          <a:noFill/>
          <a:ln/>
        </p:spPr>
        <p:txBody>
          <a:bodyPr wrap="square" lIns="0" tIns="0" rIns="0" bIns="0" rtlCol="0" anchor="ctr"/>
          <a:lstStyle/>
          <a:p>
            <a:pPr indent="0" marL="0">
              <a:lnSpc>
                <a:spcPct val="105000"/>
              </a:lnSpc>
              <a:buNone/>
            </a:pPr>
            <a:r>
              <a:rPr lang="en-US" sz="1100" dirty="0">
                <a:solidFill>
                  <a:srgbClr val="C4D4EA"/>
                </a:solidFill>
                <a:latin typeface="Calibri" pitchFamily="34" charset="0"/>
                <a:ea typeface="Calibri" pitchFamily="34" charset="-122"/>
                <a:cs typeface="Calibri" pitchFamily="34" charset="-120"/>
              </a:rPr>
              <a:t>Effects, not calldata; anvil + hardhat</a:t>
            </a:r>
            <a:endParaRPr lang="en-US" sz="1100" dirty="0"/>
          </a:p>
        </p:txBody>
      </p:sp>
      <p:sp>
        <p:nvSpPr>
          <p:cNvPr id="17" name="Shape 11"/>
          <p:cNvSpPr/>
          <p:nvPr/>
        </p:nvSpPr>
        <p:spPr>
          <a:xfrm>
            <a:off x="6364224" y="1600200"/>
            <a:ext cx="2606040" cy="2057400"/>
          </a:xfrm>
          <a:prstGeom prst="roundRect">
            <a:avLst>
              <a:gd name="adj" fmla="val 4444"/>
            </a:avLst>
          </a:prstGeom>
          <a:solidFill>
            <a:srgbClr val="0E1726"/>
          </a:solidFill>
          <a:ln/>
        </p:spPr>
      </p:sp>
      <p:sp>
        <p:nvSpPr>
          <p:cNvPr id="18" name="Shape 12"/>
          <p:cNvSpPr/>
          <p:nvPr/>
        </p:nvSpPr>
        <p:spPr>
          <a:xfrm>
            <a:off x="6592824" y="1828800"/>
            <a:ext cx="566928" cy="566928"/>
          </a:xfrm>
          <a:prstGeom prst="ellipse">
            <a:avLst/>
          </a:prstGeom>
          <a:solidFill>
            <a:srgbClr val="182436"/>
          </a:solidFill>
          <a:ln/>
        </p:spPr>
      </p:sp>
      <p:pic>
        <p:nvPicPr>
          <p:cNvPr id="19" name="Image 4" descr="preencoded.png">    </p:cNvPr>
          <p:cNvPicPr>
            <a:picLocks noChangeAspect="1"/>
          </p:cNvPicPr>
          <p:nvPr/>
        </p:nvPicPr>
        <p:blipFill>
          <a:blip r:embed="rId5"/>
          <a:stretch>
            <a:fillRect/>
          </a:stretch>
        </p:blipFill>
        <p:spPr>
          <a:xfrm>
            <a:off x="6720840" y="1956816"/>
            <a:ext cx="310896" cy="310896"/>
          </a:xfrm>
          <a:prstGeom prst="rect">
            <a:avLst/>
          </a:prstGeom>
        </p:spPr>
      </p:pic>
      <p:pic>
        <p:nvPicPr>
          <p:cNvPr id="20" name="Image 5" descr="preencoded.png">    </p:cNvPr>
          <p:cNvPicPr>
            <a:picLocks noChangeAspect="1"/>
          </p:cNvPicPr>
          <p:nvPr/>
        </p:nvPicPr>
        <p:blipFill>
          <a:blip r:embed="rId6"/>
          <a:stretch>
            <a:fillRect/>
          </a:stretch>
        </p:blipFill>
        <p:spPr>
          <a:xfrm>
            <a:off x="8513064" y="1892808"/>
            <a:ext cx="274320" cy="274320"/>
          </a:xfrm>
          <a:prstGeom prst="rect">
            <a:avLst/>
          </a:prstGeom>
        </p:spPr>
      </p:pic>
      <p:sp>
        <p:nvSpPr>
          <p:cNvPr id="21" name="Shape 13"/>
          <p:cNvSpPr/>
          <p:nvPr/>
        </p:nvSpPr>
        <p:spPr>
          <a:xfrm>
            <a:off x="8449056" y="1828800"/>
            <a:ext cx="402336" cy="402336"/>
          </a:xfrm>
          <a:prstGeom prst="ellipse">
            <a:avLst/>
          </a:prstGeom>
          <a:ln w="19050">
            <a:solidFill>
              <a:srgbClr val="1FC79A"/>
            </a:solidFill>
            <a:prstDash val="solid"/>
          </a:ln>
        </p:spPr>
      </p:sp>
      <p:sp>
        <p:nvSpPr>
          <p:cNvPr id="22" name="Text 14"/>
          <p:cNvSpPr/>
          <p:nvPr/>
        </p:nvSpPr>
        <p:spPr>
          <a:xfrm>
            <a:off x="6592824" y="2514600"/>
            <a:ext cx="21945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Threat feeds</a:t>
            </a:r>
            <a:endParaRPr lang="en-US" sz="1550" dirty="0"/>
          </a:p>
        </p:txBody>
      </p:sp>
      <p:sp>
        <p:nvSpPr>
          <p:cNvPr id="23" name="Text 15"/>
          <p:cNvSpPr/>
          <p:nvPr/>
        </p:nvSpPr>
        <p:spPr>
          <a:xfrm>
            <a:off x="6592824" y="2880360"/>
            <a:ext cx="2194560" cy="685800"/>
          </a:xfrm>
          <a:prstGeom prst="rect">
            <a:avLst/>
          </a:prstGeom>
          <a:noFill/>
          <a:ln/>
        </p:spPr>
        <p:txBody>
          <a:bodyPr wrap="square" lIns="0" tIns="0" rIns="0" bIns="0" rtlCol="0" anchor="ctr"/>
          <a:lstStyle/>
          <a:p>
            <a:pPr indent="0" marL="0">
              <a:lnSpc>
                <a:spcPct val="105000"/>
              </a:lnSpc>
              <a:buNone/>
            </a:pPr>
            <a:r>
              <a:rPr lang="en-US" sz="1100" dirty="0">
                <a:solidFill>
                  <a:srgbClr val="C4D4EA"/>
                </a:solidFill>
                <a:latin typeface="Calibri" pitchFamily="34" charset="0"/>
                <a:ea typeface="Calibri" pitchFamily="34" charset="-122"/>
                <a:cs typeface="Calibri" pitchFamily="34" charset="-120"/>
              </a:rPr>
              <a:t>ScamSniffer; cached, outage-proof</a:t>
            </a:r>
            <a:endParaRPr lang="en-US" sz="1100" dirty="0"/>
          </a:p>
        </p:txBody>
      </p:sp>
      <p:sp>
        <p:nvSpPr>
          <p:cNvPr id="24" name="Shape 16"/>
          <p:cNvSpPr/>
          <p:nvPr/>
        </p:nvSpPr>
        <p:spPr>
          <a:xfrm>
            <a:off x="9226296" y="1600200"/>
            <a:ext cx="2606040" cy="2057400"/>
          </a:xfrm>
          <a:prstGeom prst="roundRect">
            <a:avLst>
              <a:gd name="adj" fmla="val 4444"/>
            </a:avLst>
          </a:prstGeom>
          <a:solidFill>
            <a:srgbClr val="0E1726"/>
          </a:solidFill>
          <a:ln/>
        </p:spPr>
      </p:sp>
      <p:sp>
        <p:nvSpPr>
          <p:cNvPr id="25" name="Shape 17"/>
          <p:cNvSpPr/>
          <p:nvPr/>
        </p:nvSpPr>
        <p:spPr>
          <a:xfrm>
            <a:off x="9454896" y="1828800"/>
            <a:ext cx="566928" cy="566928"/>
          </a:xfrm>
          <a:prstGeom prst="ellipse">
            <a:avLst/>
          </a:prstGeom>
          <a:solidFill>
            <a:srgbClr val="182436"/>
          </a:solidFill>
          <a:ln/>
        </p:spPr>
      </p:sp>
      <p:pic>
        <p:nvPicPr>
          <p:cNvPr id="26" name="Image 6" descr="preencoded.png">    </p:cNvPr>
          <p:cNvPicPr>
            <a:picLocks noChangeAspect="1"/>
          </p:cNvPicPr>
          <p:nvPr/>
        </p:nvPicPr>
        <p:blipFill>
          <a:blip r:embed="rId7"/>
          <a:stretch>
            <a:fillRect/>
          </a:stretch>
        </p:blipFill>
        <p:spPr>
          <a:xfrm>
            <a:off x="9582912" y="1956816"/>
            <a:ext cx="310896" cy="310896"/>
          </a:xfrm>
          <a:prstGeom prst="rect">
            <a:avLst/>
          </a:prstGeom>
        </p:spPr>
      </p:pic>
      <p:pic>
        <p:nvPicPr>
          <p:cNvPr id="27" name="Image 7" descr="preencoded.png">    </p:cNvPr>
          <p:cNvPicPr>
            <a:picLocks noChangeAspect="1"/>
          </p:cNvPicPr>
          <p:nvPr/>
        </p:nvPicPr>
        <p:blipFill>
          <a:blip r:embed="rId8"/>
          <a:stretch>
            <a:fillRect/>
          </a:stretch>
        </p:blipFill>
        <p:spPr>
          <a:xfrm>
            <a:off x="11375136" y="1892808"/>
            <a:ext cx="274320" cy="274320"/>
          </a:xfrm>
          <a:prstGeom prst="rect">
            <a:avLst/>
          </a:prstGeom>
        </p:spPr>
      </p:pic>
      <p:sp>
        <p:nvSpPr>
          <p:cNvPr id="28" name="Shape 18"/>
          <p:cNvSpPr/>
          <p:nvPr/>
        </p:nvSpPr>
        <p:spPr>
          <a:xfrm>
            <a:off x="11311128" y="1828800"/>
            <a:ext cx="402336" cy="402336"/>
          </a:xfrm>
          <a:prstGeom prst="ellipse">
            <a:avLst/>
          </a:prstGeom>
          <a:ln w="19050">
            <a:solidFill>
              <a:srgbClr val="1FC79A"/>
            </a:solidFill>
            <a:prstDash val="solid"/>
          </a:ln>
        </p:spPr>
      </p:sp>
      <p:sp>
        <p:nvSpPr>
          <p:cNvPr id="29" name="Text 19"/>
          <p:cNvSpPr/>
          <p:nvPr/>
        </p:nvSpPr>
        <p:spPr>
          <a:xfrm>
            <a:off x="9454896" y="2514600"/>
            <a:ext cx="21945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Human escalation</a:t>
            </a:r>
            <a:endParaRPr lang="en-US" sz="1550" dirty="0"/>
          </a:p>
        </p:txBody>
      </p:sp>
      <p:sp>
        <p:nvSpPr>
          <p:cNvPr id="30" name="Text 20"/>
          <p:cNvSpPr/>
          <p:nvPr/>
        </p:nvSpPr>
        <p:spPr>
          <a:xfrm>
            <a:off x="9454896" y="2880360"/>
            <a:ext cx="2194560" cy="685800"/>
          </a:xfrm>
          <a:prstGeom prst="rect">
            <a:avLst/>
          </a:prstGeom>
          <a:noFill/>
          <a:ln/>
        </p:spPr>
        <p:txBody>
          <a:bodyPr wrap="square" lIns="0" tIns="0" rIns="0" bIns="0" rtlCol="0" anchor="ctr"/>
          <a:lstStyle/>
          <a:p>
            <a:pPr indent="0" marL="0">
              <a:lnSpc>
                <a:spcPct val="105000"/>
              </a:lnSpc>
              <a:buNone/>
            </a:pPr>
            <a:r>
              <a:rPr lang="en-US" sz="1100" dirty="0">
                <a:solidFill>
                  <a:srgbClr val="C4D4EA"/>
                </a:solidFill>
                <a:latin typeface="Calibri" pitchFamily="34" charset="0"/>
                <a:ea typeface="Calibri" pitchFamily="34" charset="-122"/>
                <a:cs typeface="Calibri" pitchFamily="34" charset="-120"/>
              </a:rPr>
              <a:t>Telegram buttons / webhook; deny on timeout</a:t>
            </a:r>
            <a:endParaRPr lang="en-US" sz="1100" dirty="0"/>
          </a:p>
        </p:txBody>
      </p:sp>
      <p:sp>
        <p:nvSpPr>
          <p:cNvPr id="31" name="Shape 21"/>
          <p:cNvSpPr/>
          <p:nvPr/>
        </p:nvSpPr>
        <p:spPr>
          <a:xfrm>
            <a:off x="640080" y="3886200"/>
            <a:ext cx="2606040" cy="2057400"/>
          </a:xfrm>
          <a:prstGeom prst="roundRect">
            <a:avLst>
              <a:gd name="adj" fmla="val 4444"/>
            </a:avLst>
          </a:prstGeom>
          <a:solidFill>
            <a:srgbClr val="0E1726"/>
          </a:solidFill>
          <a:ln/>
        </p:spPr>
      </p:sp>
      <p:sp>
        <p:nvSpPr>
          <p:cNvPr id="32" name="Shape 22"/>
          <p:cNvSpPr/>
          <p:nvPr/>
        </p:nvSpPr>
        <p:spPr>
          <a:xfrm>
            <a:off x="868680" y="4114800"/>
            <a:ext cx="566928" cy="566928"/>
          </a:xfrm>
          <a:prstGeom prst="ellipse">
            <a:avLst/>
          </a:prstGeom>
          <a:solidFill>
            <a:srgbClr val="182436"/>
          </a:solidFill>
          <a:ln/>
        </p:spPr>
      </p:sp>
      <p:pic>
        <p:nvPicPr>
          <p:cNvPr id="33" name="Image 8" descr="preencoded.png">    </p:cNvPr>
          <p:cNvPicPr>
            <a:picLocks noChangeAspect="1"/>
          </p:cNvPicPr>
          <p:nvPr/>
        </p:nvPicPr>
        <p:blipFill>
          <a:blip r:embed="rId9"/>
          <a:stretch>
            <a:fillRect/>
          </a:stretch>
        </p:blipFill>
        <p:spPr>
          <a:xfrm>
            <a:off x="996696" y="4242816"/>
            <a:ext cx="310896" cy="310896"/>
          </a:xfrm>
          <a:prstGeom prst="rect">
            <a:avLst/>
          </a:prstGeom>
        </p:spPr>
      </p:pic>
      <p:pic>
        <p:nvPicPr>
          <p:cNvPr id="34" name="Image 9" descr="preencoded.png">    </p:cNvPr>
          <p:cNvPicPr>
            <a:picLocks noChangeAspect="1"/>
          </p:cNvPicPr>
          <p:nvPr/>
        </p:nvPicPr>
        <p:blipFill>
          <a:blip r:embed="rId10"/>
          <a:stretch>
            <a:fillRect/>
          </a:stretch>
        </p:blipFill>
        <p:spPr>
          <a:xfrm>
            <a:off x="2788920" y="4178808"/>
            <a:ext cx="274320" cy="274320"/>
          </a:xfrm>
          <a:prstGeom prst="rect">
            <a:avLst/>
          </a:prstGeom>
        </p:spPr>
      </p:pic>
      <p:sp>
        <p:nvSpPr>
          <p:cNvPr id="35" name="Shape 23"/>
          <p:cNvSpPr/>
          <p:nvPr/>
        </p:nvSpPr>
        <p:spPr>
          <a:xfrm>
            <a:off x="2724912" y="4114800"/>
            <a:ext cx="402336" cy="402336"/>
          </a:xfrm>
          <a:prstGeom prst="ellipse">
            <a:avLst/>
          </a:prstGeom>
          <a:ln w="19050">
            <a:solidFill>
              <a:srgbClr val="1FC79A"/>
            </a:solidFill>
            <a:prstDash val="solid"/>
          </a:ln>
        </p:spPr>
      </p:sp>
      <p:sp>
        <p:nvSpPr>
          <p:cNvPr id="36" name="Text 24"/>
          <p:cNvSpPr/>
          <p:nvPr/>
        </p:nvSpPr>
        <p:spPr>
          <a:xfrm>
            <a:off x="868680" y="4800600"/>
            <a:ext cx="21945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Signature guarding</a:t>
            </a:r>
            <a:endParaRPr lang="en-US" sz="1550" dirty="0"/>
          </a:p>
        </p:txBody>
      </p:sp>
      <p:sp>
        <p:nvSpPr>
          <p:cNvPr id="37" name="Text 25"/>
          <p:cNvSpPr/>
          <p:nvPr/>
        </p:nvSpPr>
        <p:spPr>
          <a:xfrm>
            <a:off x="868680" y="5166360"/>
            <a:ext cx="2194560" cy="685800"/>
          </a:xfrm>
          <a:prstGeom prst="rect">
            <a:avLst/>
          </a:prstGeom>
          <a:noFill/>
          <a:ln/>
        </p:spPr>
        <p:txBody>
          <a:bodyPr wrap="square" lIns="0" tIns="0" rIns="0" bIns="0" rtlCol="0" anchor="ctr"/>
          <a:lstStyle/>
          <a:p>
            <a:pPr indent="0" marL="0">
              <a:lnSpc>
                <a:spcPct val="105000"/>
              </a:lnSpc>
              <a:buNone/>
            </a:pPr>
            <a:r>
              <a:rPr lang="en-US" sz="1100" dirty="0">
                <a:solidFill>
                  <a:srgbClr val="C4D4EA"/>
                </a:solidFill>
                <a:latin typeface="Calibri" pitchFamily="34" charset="0"/>
                <a:ea typeface="Calibri" pitchFamily="34" charset="-122"/>
                <a:cs typeface="Calibri" pitchFamily="34" charset="-120"/>
              </a:rPr>
              <a:t>ERC-2612 · Permit2 · DAI · Seaport</a:t>
            </a:r>
            <a:endParaRPr lang="en-US" sz="1100" dirty="0"/>
          </a:p>
        </p:txBody>
      </p:sp>
      <p:sp>
        <p:nvSpPr>
          <p:cNvPr id="38" name="Shape 26"/>
          <p:cNvSpPr/>
          <p:nvPr/>
        </p:nvSpPr>
        <p:spPr>
          <a:xfrm>
            <a:off x="3502152" y="3886200"/>
            <a:ext cx="2606040" cy="2057400"/>
          </a:xfrm>
          <a:prstGeom prst="roundRect">
            <a:avLst>
              <a:gd name="adj" fmla="val 4444"/>
            </a:avLst>
          </a:prstGeom>
          <a:solidFill>
            <a:srgbClr val="0E1726"/>
          </a:solidFill>
          <a:ln/>
        </p:spPr>
      </p:sp>
      <p:sp>
        <p:nvSpPr>
          <p:cNvPr id="39" name="Shape 27"/>
          <p:cNvSpPr/>
          <p:nvPr/>
        </p:nvSpPr>
        <p:spPr>
          <a:xfrm>
            <a:off x="3730752" y="4114800"/>
            <a:ext cx="566928" cy="566928"/>
          </a:xfrm>
          <a:prstGeom prst="ellipse">
            <a:avLst/>
          </a:prstGeom>
          <a:solidFill>
            <a:srgbClr val="182436"/>
          </a:solidFill>
          <a:ln/>
        </p:spPr>
      </p:sp>
      <p:pic>
        <p:nvPicPr>
          <p:cNvPr id="40" name="Image 10" descr="preencoded.png">    </p:cNvPr>
          <p:cNvPicPr>
            <a:picLocks noChangeAspect="1"/>
          </p:cNvPicPr>
          <p:nvPr/>
        </p:nvPicPr>
        <p:blipFill>
          <a:blip r:embed="rId11"/>
          <a:stretch>
            <a:fillRect/>
          </a:stretch>
        </p:blipFill>
        <p:spPr>
          <a:xfrm>
            <a:off x="3858768" y="4242816"/>
            <a:ext cx="310896" cy="310896"/>
          </a:xfrm>
          <a:prstGeom prst="rect">
            <a:avLst/>
          </a:prstGeom>
        </p:spPr>
      </p:pic>
      <p:pic>
        <p:nvPicPr>
          <p:cNvPr id="41" name="Image 11" descr="preencoded.png">    </p:cNvPr>
          <p:cNvPicPr>
            <a:picLocks noChangeAspect="1"/>
          </p:cNvPicPr>
          <p:nvPr/>
        </p:nvPicPr>
        <p:blipFill>
          <a:blip r:embed="rId12"/>
          <a:stretch>
            <a:fillRect/>
          </a:stretch>
        </p:blipFill>
        <p:spPr>
          <a:xfrm>
            <a:off x="5650992" y="4178808"/>
            <a:ext cx="274320" cy="274320"/>
          </a:xfrm>
          <a:prstGeom prst="rect">
            <a:avLst/>
          </a:prstGeom>
        </p:spPr>
      </p:pic>
      <p:sp>
        <p:nvSpPr>
          <p:cNvPr id="42" name="Shape 28"/>
          <p:cNvSpPr/>
          <p:nvPr/>
        </p:nvSpPr>
        <p:spPr>
          <a:xfrm>
            <a:off x="5586984" y="4114800"/>
            <a:ext cx="402336" cy="402336"/>
          </a:xfrm>
          <a:prstGeom prst="ellipse">
            <a:avLst/>
          </a:prstGeom>
          <a:ln w="19050">
            <a:solidFill>
              <a:srgbClr val="1FC79A"/>
            </a:solidFill>
            <a:prstDash val="solid"/>
          </a:ln>
        </p:spPr>
      </p:sp>
      <p:sp>
        <p:nvSpPr>
          <p:cNvPr id="43" name="Text 29"/>
          <p:cNvSpPr/>
          <p:nvPr/>
        </p:nvSpPr>
        <p:spPr>
          <a:xfrm>
            <a:off x="3730752" y="4800600"/>
            <a:ext cx="21945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ERC-4337</a:t>
            </a:r>
            <a:endParaRPr lang="en-US" sz="1550" dirty="0"/>
          </a:p>
        </p:txBody>
      </p:sp>
      <p:sp>
        <p:nvSpPr>
          <p:cNvPr id="44" name="Text 30"/>
          <p:cNvSpPr/>
          <p:nvPr/>
        </p:nvSpPr>
        <p:spPr>
          <a:xfrm>
            <a:off x="3730752" y="5166360"/>
            <a:ext cx="2194560" cy="685800"/>
          </a:xfrm>
          <a:prstGeom prst="rect">
            <a:avLst/>
          </a:prstGeom>
          <a:noFill/>
          <a:ln/>
        </p:spPr>
        <p:txBody>
          <a:bodyPr wrap="square" lIns="0" tIns="0" rIns="0" bIns="0" rtlCol="0" anchor="ctr"/>
          <a:lstStyle/>
          <a:p>
            <a:pPr indent="0" marL="0">
              <a:lnSpc>
                <a:spcPct val="105000"/>
              </a:lnSpc>
              <a:buNone/>
            </a:pPr>
            <a:r>
              <a:rPr lang="en-US" sz="1100" dirty="0">
                <a:solidFill>
                  <a:srgbClr val="C4D4EA"/>
                </a:solidFill>
                <a:latin typeface="Calibri" pitchFamily="34" charset="0"/>
                <a:ea typeface="Calibri" pitchFamily="34" charset="-122"/>
                <a:cs typeface="Calibri" pitchFamily="34" charset="-120"/>
              </a:rPr>
              <a:t>UserOps; caps attribute to the smart account</a:t>
            </a:r>
            <a:endParaRPr lang="en-US" sz="1100" dirty="0"/>
          </a:p>
        </p:txBody>
      </p:sp>
      <p:sp>
        <p:nvSpPr>
          <p:cNvPr id="45" name="Shape 31"/>
          <p:cNvSpPr/>
          <p:nvPr/>
        </p:nvSpPr>
        <p:spPr>
          <a:xfrm>
            <a:off x="6364224" y="3886200"/>
            <a:ext cx="2606040" cy="2057400"/>
          </a:xfrm>
          <a:prstGeom prst="roundRect">
            <a:avLst>
              <a:gd name="adj" fmla="val 4444"/>
            </a:avLst>
          </a:prstGeom>
          <a:solidFill>
            <a:srgbClr val="0E1726"/>
          </a:solidFill>
          <a:ln/>
        </p:spPr>
      </p:sp>
      <p:sp>
        <p:nvSpPr>
          <p:cNvPr id="46" name="Shape 32"/>
          <p:cNvSpPr/>
          <p:nvPr/>
        </p:nvSpPr>
        <p:spPr>
          <a:xfrm>
            <a:off x="6592824" y="4114800"/>
            <a:ext cx="566928" cy="566928"/>
          </a:xfrm>
          <a:prstGeom prst="ellipse">
            <a:avLst/>
          </a:prstGeom>
          <a:solidFill>
            <a:srgbClr val="182436"/>
          </a:solidFill>
          <a:ln/>
        </p:spPr>
      </p:sp>
      <p:pic>
        <p:nvPicPr>
          <p:cNvPr id="47" name="Image 12" descr="preencoded.png">    </p:cNvPr>
          <p:cNvPicPr>
            <a:picLocks noChangeAspect="1"/>
          </p:cNvPicPr>
          <p:nvPr/>
        </p:nvPicPr>
        <p:blipFill>
          <a:blip r:embed="rId13"/>
          <a:stretch>
            <a:fillRect/>
          </a:stretch>
        </p:blipFill>
        <p:spPr>
          <a:xfrm>
            <a:off x="6720840" y="4242816"/>
            <a:ext cx="310896" cy="310896"/>
          </a:xfrm>
          <a:prstGeom prst="rect">
            <a:avLst/>
          </a:prstGeom>
        </p:spPr>
      </p:pic>
      <p:pic>
        <p:nvPicPr>
          <p:cNvPr id="48" name="Image 13" descr="preencoded.png">    </p:cNvPr>
          <p:cNvPicPr>
            <a:picLocks noChangeAspect="1"/>
          </p:cNvPicPr>
          <p:nvPr/>
        </p:nvPicPr>
        <p:blipFill>
          <a:blip r:embed="rId14"/>
          <a:stretch>
            <a:fillRect/>
          </a:stretch>
        </p:blipFill>
        <p:spPr>
          <a:xfrm>
            <a:off x="8513064" y="4178808"/>
            <a:ext cx="274320" cy="274320"/>
          </a:xfrm>
          <a:prstGeom prst="rect">
            <a:avLst/>
          </a:prstGeom>
        </p:spPr>
      </p:pic>
      <p:sp>
        <p:nvSpPr>
          <p:cNvPr id="49" name="Shape 33"/>
          <p:cNvSpPr/>
          <p:nvPr/>
        </p:nvSpPr>
        <p:spPr>
          <a:xfrm>
            <a:off x="8449056" y="4114800"/>
            <a:ext cx="402336" cy="402336"/>
          </a:xfrm>
          <a:prstGeom prst="ellipse">
            <a:avLst/>
          </a:prstGeom>
          <a:ln w="19050">
            <a:solidFill>
              <a:srgbClr val="1FC79A"/>
            </a:solidFill>
            <a:prstDash val="solid"/>
          </a:ln>
        </p:spPr>
      </p:sp>
      <p:sp>
        <p:nvSpPr>
          <p:cNvPr id="50" name="Text 34"/>
          <p:cNvSpPr/>
          <p:nvPr/>
        </p:nvSpPr>
        <p:spPr>
          <a:xfrm>
            <a:off x="6592824" y="4800600"/>
            <a:ext cx="21945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Adapters</a:t>
            </a:r>
            <a:endParaRPr lang="en-US" sz="1550" dirty="0"/>
          </a:p>
        </p:txBody>
      </p:sp>
      <p:sp>
        <p:nvSpPr>
          <p:cNvPr id="51" name="Text 35"/>
          <p:cNvSpPr/>
          <p:nvPr/>
        </p:nvSpPr>
        <p:spPr>
          <a:xfrm>
            <a:off x="6592824" y="5166360"/>
            <a:ext cx="2194560" cy="685800"/>
          </a:xfrm>
          <a:prstGeom prst="rect">
            <a:avLst/>
          </a:prstGeom>
          <a:noFill/>
          <a:ln/>
        </p:spPr>
        <p:txBody>
          <a:bodyPr wrap="square" lIns="0" tIns="0" rIns="0" bIns="0" rtlCol="0" anchor="ctr"/>
          <a:lstStyle/>
          <a:p>
            <a:pPr indent="0" marL="0">
              <a:lnSpc>
                <a:spcPct val="105000"/>
              </a:lnSpc>
              <a:buNone/>
            </a:pPr>
            <a:r>
              <a:rPr lang="en-US" sz="1100" dirty="0">
                <a:solidFill>
                  <a:srgbClr val="C4D4EA"/>
                </a:solidFill>
                <a:latin typeface="Calibri" pitchFamily="34" charset="0"/>
                <a:ea typeface="Calibri" pitchFamily="34" charset="-122"/>
                <a:cs typeface="Calibri" pitchFamily="34" charset="-120"/>
              </a:rPr>
              <a:t>viem · ethers · one-line wrap</a:t>
            </a:r>
            <a:endParaRPr lang="en-US" sz="1100" dirty="0"/>
          </a:p>
        </p:txBody>
      </p:sp>
      <p:sp>
        <p:nvSpPr>
          <p:cNvPr id="52" name="Shape 36"/>
          <p:cNvSpPr/>
          <p:nvPr/>
        </p:nvSpPr>
        <p:spPr>
          <a:xfrm>
            <a:off x="9226296" y="3886200"/>
            <a:ext cx="2606040" cy="2057400"/>
          </a:xfrm>
          <a:prstGeom prst="roundRect">
            <a:avLst>
              <a:gd name="adj" fmla="val 4444"/>
            </a:avLst>
          </a:prstGeom>
          <a:solidFill>
            <a:srgbClr val="0E1726"/>
          </a:solidFill>
          <a:ln/>
        </p:spPr>
      </p:sp>
      <p:sp>
        <p:nvSpPr>
          <p:cNvPr id="53" name="Shape 37"/>
          <p:cNvSpPr/>
          <p:nvPr/>
        </p:nvSpPr>
        <p:spPr>
          <a:xfrm>
            <a:off x="9454896" y="4114800"/>
            <a:ext cx="566928" cy="566928"/>
          </a:xfrm>
          <a:prstGeom prst="ellipse">
            <a:avLst/>
          </a:prstGeom>
          <a:solidFill>
            <a:srgbClr val="182436"/>
          </a:solidFill>
          <a:ln/>
        </p:spPr>
      </p:sp>
      <p:pic>
        <p:nvPicPr>
          <p:cNvPr id="54" name="Image 14" descr="preencoded.png">    </p:cNvPr>
          <p:cNvPicPr>
            <a:picLocks noChangeAspect="1"/>
          </p:cNvPicPr>
          <p:nvPr/>
        </p:nvPicPr>
        <p:blipFill>
          <a:blip r:embed="rId15"/>
          <a:stretch>
            <a:fillRect/>
          </a:stretch>
        </p:blipFill>
        <p:spPr>
          <a:xfrm>
            <a:off x="9582912" y="4242816"/>
            <a:ext cx="310896" cy="310896"/>
          </a:xfrm>
          <a:prstGeom prst="rect">
            <a:avLst/>
          </a:prstGeom>
        </p:spPr>
      </p:pic>
      <p:pic>
        <p:nvPicPr>
          <p:cNvPr id="55" name="Image 15" descr="preencoded.png">    </p:cNvPr>
          <p:cNvPicPr>
            <a:picLocks noChangeAspect="1"/>
          </p:cNvPicPr>
          <p:nvPr/>
        </p:nvPicPr>
        <p:blipFill>
          <a:blip r:embed="rId16"/>
          <a:stretch>
            <a:fillRect/>
          </a:stretch>
        </p:blipFill>
        <p:spPr>
          <a:xfrm>
            <a:off x="11375136" y="4178808"/>
            <a:ext cx="274320" cy="274320"/>
          </a:xfrm>
          <a:prstGeom prst="rect">
            <a:avLst/>
          </a:prstGeom>
        </p:spPr>
      </p:pic>
      <p:sp>
        <p:nvSpPr>
          <p:cNvPr id="56" name="Shape 38"/>
          <p:cNvSpPr/>
          <p:nvPr/>
        </p:nvSpPr>
        <p:spPr>
          <a:xfrm>
            <a:off x="11311128" y="4114800"/>
            <a:ext cx="402336" cy="402336"/>
          </a:xfrm>
          <a:prstGeom prst="ellipse">
            <a:avLst/>
          </a:prstGeom>
          <a:ln w="19050">
            <a:solidFill>
              <a:srgbClr val="1FC79A"/>
            </a:solidFill>
            <a:prstDash val="solid"/>
          </a:ln>
        </p:spPr>
      </p:sp>
      <p:sp>
        <p:nvSpPr>
          <p:cNvPr id="57" name="Text 39"/>
          <p:cNvSpPr/>
          <p:nvPr/>
        </p:nvSpPr>
        <p:spPr>
          <a:xfrm>
            <a:off x="9454896" y="4800600"/>
            <a:ext cx="21945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MCP wallet server</a:t>
            </a:r>
            <a:endParaRPr lang="en-US" sz="1550" dirty="0"/>
          </a:p>
        </p:txBody>
      </p:sp>
      <p:sp>
        <p:nvSpPr>
          <p:cNvPr id="58" name="Text 40"/>
          <p:cNvSpPr/>
          <p:nvPr/>
        </p:nvSpPr>
        <p:spPr>
          <a:xfrm>
            <a:off x="9454896" y="5166360"/>
            <a:ext cx="2194560" cy="685800"/>
          </a:xfrm>
          <a:prstGeom prst="rect">
            <a:avLst/>
          </a:prstGeom>
          <a:noFill/>
          <a:ln/>
        </p:spPr>
        <p:txBody>
          <a:bodyPr wrap="square" lIns="0" tIns="0" rIns="0" bIns="0" rtlCol="0" anchor="ctr"/>
          <a:lstStyle/>
          <a:p>
            <a:pPr indent="0" marL="0">
              <a:lnSpc>
                <a:spcPct val="105000"/>
              </a:lnSpc>
              <a:buNone/>
            </a:pPr>
            <a:r>
              <a:rPr lang="en-US" sz="1100" dirty="0">
                <a:solidFill>
                  <a:srgbClr val="C4D4EA"/>
                </a:solidFill>
                <a:latin typeface="Calibri" pitchFamily="34" charset="0"/>
                <a:ea typeface="Calibri" pitchFamily="34" charset="-122"/>
                <a:cs typeface="Calibri" pitchFamily="34" charset="-120"/>
              </a:rPr>
              <a:t>The safe wallet tool for agent frameworks</a:t>
            </a:r>
            <a:endParaRPr lang="en-US" sz="1100" dirty="0"/>
          </a:p>
        </p:txBody>
      </p:sp>
      <p:sp>
        <p:nvSpPr>
          <p:cNvPr id="59" name="Text 41"/>
          <p:cNvSpPr/>
          <p:nvPr/>
        </p:nvSpPr>
        <p:spPr>
          <a:xfrm>
            <a:off x="640080" y="6263640"/>
            <a:ext cx="10881360" cy="365760"/>
          </a:xfrm>
          <a:prstGeom prst="rect">
            <a:avLst/>
          </a:prstGeom>
          <a:noFill/>
          <a:ln/>
        </p:spPr>
        <p:txBody>
          <a:bodyPr wrap="square" lIns="0" tIns="0" rIns="0" bIns="0" rtlCol="0" anchor="ctr"/>
          <a:lstStyle/>
          <a:p>
            <a:pPr algn="ctr" indent="0" marL="0">
              <a:buNone/>
            </a:pPr>
            <a:r>
              <a:rPr lang="en-US" sz="1300" dirty="0">
                <a:solidFill>
                  <a:srgbClr val="5B6B80"/>
                </a:solidFill>
                <a:latin typeface="Calibri" pitchFamily="34" charset="0"/>
                <a:ea typeface="Calibri" pitchFamily="34" charset="-122"/>
                <a:cs typeface="Calibri" pitchFamily="34" charset="-120"/>
              </a:rPr>
              <a:t>80 tests against live nodes · MIT · zero infra required · 30 kB package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documented attack, replayed and blocked — in CI, on every commit</a:t>
            </a:r>
            <a:endParaRPr lang="en-US" sz="3000" dirty="0"/>
          </a:p>
        </p:txBody>
      </p:sp>
      <p:pic>
        <p:nvPicPr>
          <p:cNvPr id="3" name="Image 0" descr="preencoded.png">    </p:cNvPr>
          <p:cNvPicPr>
            <a:picLocks noChangeAspect="1"/>
          </p:cNvPicPr>
          <p:nvPr/>
        </p:nvPicPr>
        <p:blipFill>
          <a:blip r:embed="rId1"/>
          <a:stretch>
            <a:fillRect/>
          </a:stretch>
        </p:blipFill>
        <p:spPr>
          <a:xfrm>
            <a:off x="685800" y="1417320"/>
            <a:ext cx="384048" cy="384048"/>
          </a:xfrm>
          <a:prstGeom prst="rect">
            <a:avLst/>
          </a:prstGeom>
        </p:spPr>
      </p:pic>
      <p:sp>
        <p:nvSpPr>
          <p:cNvPr id="4" name="Text 1"/>
          <p:cNvSpPr/>
          <p:nvPr/>
        </p:nvSpPr>
        <p:spPr>
          <a:xfrm>
            <a:off x="1188720" y="1417320"/>
            <a:ext cx="5486400" cy="411480"/>
          </a:xfrm>
          <a:prstGeom prst="rect">
            <a:avLst/>
          </a:prstGeom>
          <a:noFill/>
          <a:ln/>
        </p:spPr>
        <p:txBody>
          <a:bodyPr wrap="square" lIns="0" tIns="0" rIns="0" bIns="0" rtlCol="0" anchor="ctr"/>
          <a:lstStyle/>
          <a:p>
            <a:pPr indent="0" marL="0">
              <a:buNone/>
            </a:pPr>
            <a:r>
              <a:rPr lang="en-US" sz="2000" b="1" dirty="0">
                <a:solidFill>
                  <a:srgbClr val="1FC79A"/>
                </a:solidFill>
                <a:latin typeface="Courier New" pitchFamily="34" charset="0"/>
                <a:ea typeface="Courier New" pitchFamily="34" charset="-122"/>
                <a:cs typeface="Courier New" pitchFamily="34" charset="-120"/>
              </a:rPr>
              <a:t>npm run demo</a:t>
            </a:r>
            <a:endParaRPr lang="en-US" sz="2000" dirty="0"/>
          </a:p>
        </p:txBody>
      </p:sp>
      <p:sp>
        <p:nvSpPr>
          <p:cNvPr id="5" name="Shape 2"/>
          <p:cNvSpPr/>
          <p:nvPr/>
        </p:nvSpPr>
        <p:spPr>
          <a:xfrm>
            <a:off x="640080" y="2103120"/>
            <a:ext cx="10881360" cy="1115568"/>
          </a:xfrm>
          <a:prstGeom prst="roundRect">
            <a:avLst>
              <a:gd name="adj" fmla="val 8197"/>
            </a:avLst>
          </a:prstGeom>
          <a:solidFill>
            <a:srgbClr val="182436"/>
          </a:solidFill>
          <a:ln/>
        </p:spPr>
      </p:sp>
      <p:sp>
        <p:nvSpPr>
          <p:cNvPr id="6" name="Shape 3"/>
          <p:cNvSpPr/>
          <p:nvPr/>
        </p:nvSpPr>
        <p:spPr>
          <a:xfrm>
            <a:off x="868680" y="2359152"/>
            <a:ext cx="603504" cy="603504"/>
          </a:xfrm>
          <a:prstGeom prst="ellipse">
            <a:avLst/>
          </a:prstGeom>
          <a:solidFill>
            <a:srgbClr val="128A6C"/>
          </a:solidFill>
          <a:ln/>
        </p:spPr>
      </p:sp>
      <p:pic>
        <p:nvPicPr>
          <p:cNvPr id="7" name="Image 1" descr="preencoded.png">    </p:cNvPr>
          <p:cNvPicPr>
            <a:picLocks noChangeAspect="1"/>
          </p:cNvPicPr>
          <p:nvPr/>
        </p:nvPicPr>
        <p:blipFill>
          <a:blip r:embed="rId2"/>
          <a:stretch>
            <a:fillRect/>
          </a:stretch>
        </p:blipFill>
        <p:spPr>
          <a:xfrm>
            <a:off x="1005840" y="2496312"/>
            <a:ext cx="329184" cy="329184"/>
          </a:xfrm>
          <a:prstGeom prst="rect">
            <a:avLst/>
          </a:prstGeom>
        </p:spPr>
      </p:pic>
      <p:sp>
        <p:nvSpPr>
          <p:cNvPr id="8" name="Text 4"/>
          <p:cNvSpPr/>
          <p:nvPr/>
        </p:nvSpPr>
        <p:spPr>
          <a:xfrm>
            <a:off x="1691640" y="2221992"/>
            <a:ext cx="96012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Scene 1 — the intent</a:t>
            </a:r>
            <a:endParaRPr lang="en-US" sz="1600" dirty="0"/>
          </a:p>
        </p:txBody>
      </p:sp>
      <p:sp>
        <p:nvSpPr>
          <p:cNvPr id="9" name="Text 5"/>
          <p:cNvSpPr/>
          <p:nvPr/>
        </p:nvSpPr>
        <p:spPr>
          <a:xfrm>
            <a:off x="1691640" y="2606040"/>
            <a:ext cx="9601200" cy="548640"/>
          </a:xfrm>
          <a:prstGeom prst="rect">
            <a:avLst/>
          </a:prstGeom>
          <a:noFill/>
          <a:ln/>
        </p:spPr>
        <p:txBody>
          <a:bodyPr wrap="square" lIns="0" tIns="0" rIns="0" bIns="0" rtlCol="0" anchor="ctr"/>
          <a:lstStyle/>
          <a:p>
            <a:pPr indent="0" marL="0">
              <a:buNone/>
            </a:pPr>
            <a:r>
              <a:rPr lang="en-US" sz="1350" dirty="0">
                <a:solidFill>
                  <a:srgbClr val="C4D4EA"/>
                </a:solidFill>
                <a:latin typeface="Calibri" pitchFamily="34" charset="0"/>
                <a:ea typeface="Calibri" pitchFamily="34" charset="-122"/>
                <a:cs typeface="Calibri" pitchFamily="34" charset="-120"/>
              </a:rPr>
              <a:t>Agent pays 10 mUSD to its API provider. In policy → signed and delivered.</a:t>
            </a:r>
            <a:endParaRPr lang="en-US" sz="1350" dirty="0"/>
          </a:p>
        </p:txBody>
      </p:sp>
      <p:sp>
        <p:nvSpPr>
          <p:cNvPr id="10" name="Shape 6"/>
          <p:cNvSpPr/>
          <p:nvPr/>
        </p:nvSpPr>
        <p:spPr>
          <a:xfrm>
            <a:off x="640080" y="3401568"/>
            <a:ext cx="10881360" cy="1115568"/>
          </a:xfrm>
          <a:prstGeom prst="roundRect">
            <a:avLst>
              <a:gd name="adj" fmla="val 8197"/>
            </a:avLst>
          </a:prstGeom>
          <a:solidFill>
            <a:srgbClr val="182436"/>
          </a:solidFill>
          <a:ln/>
        </p:spPr>
      </p:sp>
      <p:sp>
        <p:nvSpPr>
          <p:cNvPr id="11" name="Shape 7"/>
          <p:cNvSpPr/>
          <p:nvPr/>
        </p:nvSpPr>
        <p:spPr>
          <a:xfrm>
            <a:off x="868680" y="3657600"/>
            <a:ext cx="603504" cy="603504"/>
          </a:xfrm>
          <a:prstGeom prst="ellipse">
            <a:avLst/>
          </a:prstGeom>
          <a:solidFill>
            <a:srgbClr val="D64545"/>
          </a:solidFill>
          <a:ln/>
        </p:spPr>
      </p:sp>
      <p:pic>
        <p:nvPicPr>
          <p:cNvPr id="12" name="Image 2" descr="preencoded.png">    </p:cNvPr>
          <p:cNvPicPr>
            <a:picLocks noChangeAspect="1"/>
          </p:cNvPicPr>
          <p:nvPr/>
        </p:nvPicPr>
        <p:blipFill>
          <a:blip r:embed="rId3"/>
          <a:stretch>
            <a:fillRect/>
          </a:stretch>
        </p:blipFill>
        <p:spPr>
          <a:xfrm>
            <a:off x="1005840" y="3794760"/>
            <a:ext cx="329184" cy="329184"/>
          </a:xfrm>
          <a:prstGeom prst="rect">
            <a:avLst/>
          </a:prstGeom>
        </p:spPr>
      </p:pic>
      <p:sp>
        <p:nvSpPr>
          <p:cNvPr id="13" name="Text 8"/>
          <p:cNvSpPr/>
          <p:nvPr/>
        </p:nvSpPr>
        <p:spPr>
          <a:xfrm>
            <a:off x="1691640" y="3520440"/>
            <a:ext cx="96012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Scene 2 — the injection</a:t>
            </a:r>
            <a:endParaRPr lang="en-US" sz="1600" dirty="0"/>
          </a:p>
        </p:txBody>
      </p:sp>
      <p:sp>
        <p:nvSpPr>
          <p:cNvPr id="14" name="Text 9"/>
          <p:cNvSpPr/>
          <p:nvPr/>
        </p:nvSpPr>
        <p:spPr>
          <a:xfrm>
            <a:off x="1691640" y="3904488"/>
            <a:ext cx="9601200" cy="548640"/>
          </a:xfrm>
          <a:prstGeom prst="rect">
            <a:avLst/>
          </a:prstGeom>
          <a:noFill/>
          <a:ln/>
        </p:spPr>
        <p:txBody>
          <a:bodyPr wrap="square" lIns="0" tIns="0" rIns="0" bIns="0" rtlCol="0" anchor="ctr"/>
          <a:lstStyle/>
          <a:p>
            <a:pPr indent="0" marL="0">
              <a:buNone/>
            </a:pPr>
            <a:r>
              <a:rPr lang="en-US" sz="1350" dirty="0">
                <a:solidFill>
                  <a:srgbClr val="C4D4EA"/>
                </a:solidFill>
                <a:latin typeface="Calibri" pitchFamily="34" charset="0"/>
                <a:ea typeface="Calibri" pitchFamily="34" charset="-122"/>
                <a:cs typeface="Calibri" pitchFamily="34" charset="-120"/>
              </a:rPr>
              <a:t>Router swaps the call for approve(drainer, 2²⁵⁶−1). Simulated, decoded, BLOCKED before the signer. Drainer allowance: zero.</a:t>
            </a:r>
            <a:endParaRPr lang="en-US" sz="1350" dirty="0"/>
          </a:p>
        </p:txBody>
      </p:sp>
      <p:sp>
        <p:nvSpPr>
          <p:cNvPr id="15" name="Shape 10"/>
          <p:cNvSpPr/>
          <p:nvPr/>
        </p:nvSpPr>
        <p:spPr>
          <a:xfrm>
            <a:off x="640080" y="4700016"/>
            <a:ext cx="10881360" cy="1115568"/>
          </a:xfrm>
          <a:prstGeom prst="roundRect">
            <a:avLst>
              <a:gd name="adj" fmla="val 8197"/>
            </a:avLst>
          </a:prstGeom>
          <a:solidFill>
            <a:srgbClr val="182436"/>
          </a:solidFill>
          <a:ln/>
        </p:spPr>
      </p:sp>
      <p:sp>
        <p:nvSpPr>
          <p:cNvPr id="16" name="Shape 11"/>
          <p:cNvSpPr/>
          <p:nvPr/>
        </p:nvSpPr>
        <p:spPr>
          <a:xfrm>
            <a:off x="868680" y="4956048"/>
            <a:ext cx="603504" cy="603504"/>
          </a:xfrm>
          <a:prstGeom prst="ellipse">
            <a:avLst/>
          </a:prstGeom>
          <a:solidFill>
            <a:srgbClr val="3E5C88"/>
          </a:solidFill>
          <a:ln/>
        </p:spPr>
      </p:sp>
      <p:pic>
        <p:nvPicPr>
          <p:cNvPr id="17" name="Image 3" descr="preencoded.png">    </p:cNvPr>
          <p:cNvPicPr>
            <a:picLocks noChangeAspect="1"/>
          </p:cNvPicPr>
          <p:nvPr/>
        </p:nvPicPr>
        <p:blipFill>
          <a:blip r:embed="rId4"/>
          <a:stretch>
            <a:fillRect/>
          </a:stretch>
        </p:blipFill>
        <p:spPr>
          <a:xfrm>
            <a:off x="1005840" y="5093208"/>
            <a:ext cx="329184" cy="329184"/>
          </a:xfrm>
          <a:prstGeom prst="rect">
            <a:avLst/>
          </a:prstGeom>
        </p:spPr>
      </p:pic>
      <p:sp>
        <p:nvSpPr>
          <p:cNvPr id="18" name="Text 12"/>
          <p:cNvSpPr/>
          <p:nvPr/>
        </p:nvSpPr>
        <p:spPr>
          <a:xfrm>
            <a:off x="1691640" y="4818888"/>
            <a:ext cx="96012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Scene 3 — the stealth variant</a:t>
            </a:r>
            <a:endParaRPr lang="en-US" sz="1600" dirty="0"/>
          </a:p>
        </p:txBody>
      </p:sp>
      <p:sp>
        <p:nvSpPr>
          <p:cNvPr id="19" name="Text 13"/>
          <p:cNvSpPr/>
          <p:nvPr/>
        </p:nvSpPr>
        <p:spPr>
          <a:xfrm>
            <a:off x="1691640" y="5202936"/>
            <a:ext cx="9601200" cy="548640"/>
          </a:xfrm>
          <a:prstGeom prst="rect">
            <a:avLst/>
          </a:prstGeom>
          <a:noFill/>
          <a:ln/>
        </p:spPr>
        <p:txBody>
          <a:bodyPr wrap="square" lIns="0" tIns="0" rIns="0" bIns="0" rtlCol="0" anchor="ctr"/>
          <a:lstStyle/>
          <a:p>
            <a:pPr indent="0" marL="0">
              <a:buNone/>
            </a:pPr>
            <a:r>
              <a:rPr lang="en-US" sz="1350" dirty="0">
                <a:solidFill>
                  <a:srgbClr val="C4D4EA"/>
                </a:solidFill>
                <a:latin typeface="Calibri" pitchFamily="34" charset="0"/>
                <a:ea typeface="Calibri" pitchFamily="34" charset="-122"/>
                <a:cs typeface="Calibri" pitchFamily="34" charset="-120"/>
              </a:rPr>
              <a:t>A redirect under every spend cap, to an address policy has never seen → escalates to a human instead of signing silently.</a:t>
            </a:r>
            <a:endParaRPr lang="en-US" sz="1350" dirty="0"/>
          </a:p>
        </p:txBody>
      </p:sp>
      <p:sp>
        <p:nvSpPr>
          <p:cNvPr id="20" name="Text 14"/>
          <p:cNvSpPr/>
          <p:nvPr/>
        </p:nvSpPr>
        <p:spPr>
          <a:xfrm>
            <a:off x="640080" y="6172200"/>
            <a:ext cx="10881360" cy="365760"/>
          </a:xfrm>
          <a:prstGeom prst="rect">
            <a:avLst/>
          </a:prstGeom>
          <a:noFill/>
          <a:ln/>
        </p:spPr>
        <p:txBody>
          <a:bodyPr wrap="square" lIns="0" tIns="0" rIns="0" bIns="0" rtlCol="0" anchor="ctr"/>
          <a:lstStyle/>
          <a:p>
            <a:pPr algn="ctr" indent="0" marL="0">
              <a:buNone/>
            </a:pPr>
            <a:r>
              <a:rPr lang="en-US" sz="1300" i="1" dirty="0">
                <a:solidFill>
                  <a:srgbClr val="5B6B80"/>
                </a:solidFill>
                <a:latin typeface="Calibri" pitchFamily="34" charset="0"/>
                <a:ea typeface="Calibri" pitchFamily="34" charset="-122"/>
                <a:cs typeface="Calibri" pitchFamily="34" charset="-120"/>
              </a:rPr>
              <a:t>Self-checking: the script exits non-zero unless the payment lands AND both injections die.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200" b="1" dirty="0">
                <a:solidFill>
                  <a:srgbClr val="15243B"/>
                </a:solidFill>
                <a:latin typeface="Cambria" pitchFamily="34" charset="0"/>
                <a:ea typeface="Cambria" pitchFamily="34" charset="-122"/>
                <a:cs typeface="Cambria" pitchFamily="34" charset="-120"/>
              </a:rPr>
              <a:t>The enforcement layer the standards assume — kept neutral</a:t>
            </a:r>
            <a:endParaRPr lang="en-US" sz="3200" dirty="0"/>
          </a:p>
        </p:txBody>
      </p:sp>
      <p:sp>
        <p:nvSpPr>
          <p:cNvPr id="3" name="Shape 1"/>
          <p:cNvSpPr/>
          <p:nvPr/>
        </p:nvSpPr>
        <p:spPr>
          <a:xfrm>
            <a:off x="640080" y="1600200"/>
            <a:ext cx="10881360" cy="1298448"/>
          </a:xfrm>
          <a:prstGeom prst="roundRect">
            <a:avLst>
              <a:gd name="adj" fmla="val 7042"/>
            </a:avLst>
          </a:prstGeom>
          <a:solidFill>
            <a:srgbClr val="F2F6FB"/>
          </a:solidFill>
          <a:ln/>
        </p:spPr>
      </p:sp>
      <p:sp>
        <p:nvSpPr>
          <p:cNvPr id="4" name="Text 2"/>
          <p:cNvSpPr/>
          <p:nvPr/>
        </p:nvSpPr>
        <p:spPr>
          <a:xfrm>
            <a:off x="960120" y="1755648"/>
            <a:ext cx="2834640" cy="1005840"/>
          </a:xfrm>
          <a:prstGeom prst="rect">
            <a:avLst/>
          </a:prstGeom>
          <a:noFill/>
          <a:ln/>
        </p:spPr>
        <p:txBody>
          <a:bodyPr wrap="square" lIns="0" tIns="0" rIns="0" bIns="0" rtlCol="0" anchor="t"/>
          <a:lstStyle/>
          <a:p>
            <a:pPr indent="0" marL="0">
              <a:buNone/>
            </a:pPr>
            <a:r>
              <a:rPr lang="en-US" sz="1900" b="1" dirty="0">
                <a:solidFill>
                  <a:srgbClr val="128A6C"/>
                </a:solidFill>
                <a:latin typeface="Cambria" pitchFamily="34" charset="0"/>
                <a:ea typeface="Cambria" pitchFamily="34" charset="-122"/>
                <a:cs typeface="Cambria" pitchFamily="34" charset="-120"/>
              </a:rPr>
              <a:t>MIT licensed</a:t>
            </a:r>
            <a:endParaRPr lang="en-US" sz="1900" dirty="0"/>
          </a:p>
        </p:txBody>
      </p:sp>
      <p:sp>
        <p:nvSpPr>
          <p:cNvPr id="5" name="Text 3"/>
          <p:cNvSpPr/>
          <p:nvPr/>
        </p:nvSpPr>
        <p:spPr>
          <a:xfrm>
            <a:off x="3931920" y="1755648"/>
            <a:ext cx="7315200" cy="1051560"/>
          </a:xfrm>
          <a:prstGeom prst="rect">
            <a:avLst/>
          </a:prstGeom>
          <a:noFill/>
          <a:ln/>
        </p:spPr>
        <p:txBody>
          <a:bodyPr wrap="square" lIns="0" tIns="0" rIns="0" bIns="0" rtlCol="0" anchor="t"/>
          <a:lstStyle/>
          <a:p>
            <a:pPr indent="0" marL="0">
              <a:lnSpc>
                <a:spcPct val="112000"/>
              </a:lnSpc>
              <a:buNone/>
            </a:pPr>
            <a:r>
              <a:rPr lang="en-US" sz="1450" dirty="0">
                <a:solidFill>
                  <a:srgbClr val="15243B"/>
                </a:solidFill>
                <a:latin typeface="Calibri" pitchFamily="34" charset="0"/>
                <a:ea typeface="Calibri" pitchFamily="34" charset="-122"/>
                <a:cs typeface="Calibri" pitchFamily="34" charset="-120"/>
              </a:rPr>
              <a:t>No token, no hosted dependency, self-hostable by anyone. Explicitly rejected a paid tier to keep the safety layer credibly neutral.</a:t>
            </a:r>
            <a:endParaRPr lang="en-US" sz="1450" dirty="0"/>
          </a:p>
        </p:txBody>
      </p:sp>
      <p:sp>
        <p:nvSpPr>
          <p:cNvPr id="6" name="Shape 4"/>
          <p:cNvSpPr/>
          <p:nvPr/>
        </p:nvSpPr>
        <p:spPr>
          <a:xfrm>
            <a:off x="640080" y="3081528"/>
            <a:ext cx="10881360" cy="1298448"/>
          </a:xfrm>
          <a:prstGeom prst="roundRect">
            <a:avLst>
              <a:gd name="adj" fmla="val 7042"/>
            </a:avLst>
          </a:prstGeom>
          <a:solidFill>
            <a:srgbClr val="F2F6FB"/>
          </a:solidFill>
          <a:ln/>
        </p:spPr>
      </p:sp>
      <p:sp>
        <p:nvSpPr>
          <p:cNvPr id="7" name="Text 5"/>
          <p:cNvSpPr/>
          <p:nvPr/>
        </p:nvSpPr>
        <p:spPr>
          <a:xfrm>
            <a:off x="960120" y="3236976"/>
            <a:ext cx="2834640" cy="1005840"/>
          </a:xfrm>
          <a:prstGeom prst="rect">
            <a:avLst/>
          </a:prstGeom>
          <a:noFill/>
          <a:ln/>
        </p:spPr>
        <p:txBody>
          <a:bodyPr wrap="square" lIns="0" tIns="0" rIns="0" bIns="0" rtlCol="0" anchor="t"/>
          <a:lstStyle/>
          <a:p>
            <a:pPr indent="0" marL="0">
              <a:buNone/>
            </a:pPr>
            <a:r>
              <a:rPr lang="en-US" sz="1900" b="1" dirty="0">
                <a:solidFill>
                  <a:srgbClr val="128A6C"/>
                </a:solidFill>
                <a:latin typeface="Cambria" pitchFamily="34" charset="0"/>
                <a:ea typeface="Cambria" pitchFamily="34" charset="-122"/>
                <a:cs typeface="Cambria" pitchFamily="34" charset="-120"/>
              </a:rPr>
              <a:t>Everyone benefits</a:t>
            </a:r>
            <a:endParaRPr lang="en-US" sz="1900" dirty="0"/>
          </a:p>
        </p:txBody>
      </p:sp>
      <p:sp>
        <p:nvSpPr>
          <p:cNvPr id="8" name="Text 6"/>
          <p:cNvSpPr/>
          <p:nvPr/>
        </p:nvSpPr>
        <p:spPr>
          <a:xfrm>
            <a:off x="3931920" y="3236976"/>
            <a:ext cx="7315200" cy="1051560"/>
          </a:xfrm>
          <a:prstGeom prst="rect">
            <a:avLst/>
          </a:prstGeom>
          <a:noFill/>
          <a:ln/>
        </p:spPr>
        <p:txBody>
          <a:bodyPr wrap="square" lIns="0" tIns="0" rIns="0" bIns="0" rtlCol="0" anchor="t"/>
          <a:lstStyle/>
          <a:p>
            <a:pPr indent="0" marL="0">
              <a:lnSpc>
                <a:spcPct val="112000"/>
              </a:lnSpc>
              <a:buNone/>
            </a:pPr>
            <a:r>
              <a:rPr lang="en-US" sz="1450" dirty="0">
                <a:solidFill>
                  <a:srgbClr val="15243B"/>
                </a:solidFill>
                <a:latin typeface="Calibri" pitchFamily="34" charset="0"/>
                <a:ea typeface="Calibri" pitchFamily="34" charset="-122"/>
                <a:cs typeface="Calibri" pitchFamily="34" charset="-120"/>
              </a:rPr>
              <a:t>Every agent framework and wallet SDK can wrap Sentinel in one line; none is disadvantaged. The alternative is platform-locked proprietary screening.</a:t>
            </a:r>
            <a:endParaRPr lang="en-US" sz="1450" dirty="0"/>
          </a:p>
        </p:txBody>
      </p:sp>
      <p:sp>
        <p:nvSpPr>
          <p:cNvPr id="9" name="Shape 7"/>
          <p:cNvSpPr/>
          <p:nvPr/>
        </p:nvSpPr>
        <p:spPr>
          <a:xfrm>
            <a:off x="640080" y="4562856"/>
            <a:ext cx="10881360" cy="1298448"/>
          </a:xfrm>
          <a:prstGeom prst="roundRect">
            <a:avLst>
              <a:gd name="adj" fmla="val 7042"/>
            </a:avLst>
          </a:prstGeom>
          <a:solidFill>
            <a:srgbClr val="F2F6FB"/>
          </a:solidFill>
          <a:ln/>
        </p:spPr>
      </p:sp>
      <p:sp>
        <p:nvSpPr>
          <p:cNvPr id="10" name="Text 8"/>
          <p:cNvSpPr/>
          <p:nvPr/>
        </p:nvSpPr>
        <p:spPr>
          <a:xfrm>
            <a:off x="960120" y="4718304"/>
            <a:ext cx="2834640" cy="1005840"/>
          </a:xfrm>
          <a:prstGeom prst="rect">
            <a:avLst/>
          </a:prstGeom>
          <a:noFill/>
          <a:ln/>
        </p:spPr>
        <p:txBody>
          <a:bodyPr wrap="square" lIns="0" tIns="0" rIns="0" bIns="0" rtlCol="0" anchor="t"/>
          <a:lstStyle/>
          <a:p>
            <a:pPr indent="0" marL="0">
              <a:buNone/>
            </a:pPr>
            <a:r>
              <a:rPr lang="en-US" sz="1900" b="1" dirty="0">
                <a:solidFill>
                  <a:srgbClr val="128A6C"/>
                </a:solidFill>
                <a:latin typeface="Cambria" pitchFamily="34" charset="0"/>
                <a:ea typeface="Cambria" pitchFamily="34" charset="-122"/>
                <a:cs typeface="Cambria" pitchFamily="34" charset="-120"/>
              </a:rPr>
              <a:t>Standards-aligned</a:t>
            </a:r>
            <a:endParaRPr lang="en-US" sz="1900" dirty="0"/>
          </a:p>
        </p:txBody>
      </p:sp>
      <p:sp>
        <p:nvSpPr>
          <p:cNvPr id="11" name="Text 9"/>
          <p:cNvSpPr/>
          <p:nvPr/>
        </p:nvSpPr>
        <p:spPr>
          <a:xfrm>
            <a:off x="3931920" y="4718304"/>
            <a:ext cx="7315200" cy="1051560"/>
          </a:xfrm>
          <a:prstGeom prst="rect">
            <a:avLst/>
          </a:prstGeom>
          <a:noFill/>
          <a:ln/>
        </p:spPr>
        <p:txBody>
          <a:bodyPr wrap="square" lIns="0" tIns="0" rIns="0" bIns="0" rtlCol="0" anchor="t"/>
          <a:lstStyle/>
          <a:p>
            <a:pPr indent="0" marL="0">
              <a:lnSpc>
                <a:spcPct val="112000"/>
              </a:lnSpc>
              <a:buNone/>
            </a:pPr>
            <a:r>
              <a:rPr lang="en-US" sz="1450" dirty="0">
                <a:solidFill>
                  <a:srgbClr val="15243B"/>
                </a:solidFill>
                <a:latin typeface="Calibri" pitchFamily="34" charset="0"/>
                <a:ea typeface="Calibri" pitchFamily="34" charset="-122"/>
                <a:cs typeface="Calibri" pitchFamily="34" charset="-120"/>
              </a:rPr>
              <a:t>ERC-4337 and EIP-7702 define how agents hold and delegate authority; EIP-712 defines what they sign. Sentinel is the policing layer those standards assume but do not provide.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400" b="1" dirty="0">
                <a:solidFill>
                  <a:srgbClr val="15243B"/>
                </a:solidFill>
                <a:latin typeface="Cambria" pitchFamily="34" charset="0"/>
                <a:ea typeface="Cambria" pitchFamily="34" charset="-122"/>
                <a:cs typeface="Cambria" pitchFamily="34" charset="-120"/>
              </a:rPr>
              <a:t>The build is done. Fund what code can’t buy.</a:t>
            </a:r>
            <a:endParaRPr lang="en-US" sz="3400" dirty="0"/>
          </a:p>
        </p:txBody>
      </p:sp>
      <p:sp>
        <p:nvSpPr>
          <p:cNvPr id="3" name="Shape 1"/>
          <p:cNvSpPr/>
          <p:nvPr/>
        </p:nvSpPr>
        <p:spPr>
          <a:xfrm>
            <a:off x="640080" y="1691640"/>
            <a:ext cx="3429000" cy="3566160"/>
          </a:xfrm>
          <a:prstGeom prst="roundRect">
            <a:avLst>
              <a:gd name="adj" fmla="val 3200"/>
            </a:avLst>
          </a:prstGeom>
          <a:solidFill>
            <a:srgbClr val="0E1726"/>
          </a:solidFill>
          <a:ln/>
        </p:spPr>
      </p:sp>
      <p:sp>
        <p:nvSpPr>
          <p:cNvPr id="4" name="Shape 2"/>
          <p:cNvSpPr/>
          <p:nvPr/>
        </p:nvSpPr>
        <p:spPr>
          <a:xfrm>
            <a:off x="960120" y="2011680"/>
            <a:ext cx="640080" cy="640080"/>
          </a:xfrm>
          <a:prstGeom prst="ellipse">
            <a:avLst/>
          </a:prstGeom>
          <a:solidFill>
            <a:srgbClr val="182436"/>
          </a:solidFill>
          <a:ln/>
        </p:spPr>
      </p:sp>
      <p:pic>
        <p:nvPicPr>
          <p:cNvPr id="5" name="Image 0" descr="preencoded.png">    </p:cNvPr>
          <p:cNvPicPr>
            <a:picLocks noChangeAspect="1"/>
          </p:cNvPicPr>
          <p:nvPr/>
        </p:nvPicPr>
        <p:blipFill>
          <a:blip r:embed="rId1"/>
          <a:stretch>
            <a:fillRect/>
          </a:stretch>
        </p:blipFill>
        <p:spPr>
          <a:xfrm>
            <a:off x="1106424" y="2157984"/>
            <a:ext cx="347472" cy="347472"/>
          </a:xfrm>
          <a:prstGeom prst="rect">
            <a:avLst/>
          </a:prstGeom>
        </p:spPr>
      </p:pic>
      <p:sp>
        <p:nvSpPr>
          <p:cNvPr id="6" name="Text 3"/>
          <p:cNvSpPr/>
          <p:nvPr/>
        </p:nvSpPr>
        <p:spPr>
          <a:xfrm>
            <a:off x="914400" y="2788920"/>
            <a:ext cx="2880360" cy="822960"/>
          </a:xfrm>
          <a:prstGeom prst="rect">
            <a:avLst/>
          </a:prstGeom>
          <a:noFill/>
          <a:ln/>
        </p:spPr>
        <p:txBody>
          <a:bodyPr wrap="square" lIns="0" tIns="0" rIns="0" bIns="0" rtlCol="0" anchor="ctr"/>
          <a:lstStyle/>
          <a:p>
            <a:pPr indent="0" marL="0">
              <a:buNone/>
            </a:pPr>
            <a:r>
              <a:rPr lang="en-US" sz="4400" b="1" dirty="0">
                <a:solidFill>
                  <a:srgbClr val="1FC79A"/>
                </a:solidFill>
                <a:latin typeface="Cambria" pitchFamily="34" charset="0"/>
                <a:ea typeface="Cambria" pitchFamily="34" charset="-122"/>
                <a:cs typeface="Cambria" pitchFamily="34" charset="-120"/>
              </a:rPr>
              <a:t>$12k</a:t>
            </a:r>
            <a:endParaRPr lang="en-US" sz="4400" dirty="0"/>
          </a:p>
        </p:txBody>
      </p:sp>
      <p:sp>
        <p:nvSpPr>
          <p:cNvPr id="7" name="Text 4"/>
          <p:cNvSpPr/>
          <p:nvPr/>
        </p:nvSpPr>
        <p:spPr>
          <a:xfrm>
            <a:off x="960120" y="3611880"/>
            <a:ext cx="283464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Independent audit</a:t>
            </a:r>
            <a:endParaRPr lang="en-US" sz="1700" dirty="0"/>
          </a:p>
        </p:txBody>
      </p:sp>
      <p:sp>
        <p:nvSpPr>
          <p:cNvPr id="8" name="Text 5"/>
          <p:cNvSpPr/>
          <p:nvPr/>
        </p:nvSpPr>
        <p:spPr>
          <a:xfrm>
            <a:off x="960120" y="4069080"/>
            <a:ext cx="2788920" cy="1097280"/>
          </a:xfrm>
          <a:prstGeom prst="rect">
            <a:avLst/>
          </a:prstGeom>
          <a:noFill/>
          <a:ln/>
        </p:spPr>
        <p:txBody>
          <a:bodyPr wrap="square" lIns="0" tIns="0" rIns="0" bIns="0" rtlCol="0" anchor="ctr"/>
          <a:lstStyle/>
          <a:p>
            <a:pPr indent="0" marL="0">
              <a:lnSpc>
                <a:spcPct val="110000"/>
              </a:lnSpc>
              <a:buNone/>
            </a:pPr>
            <a:r>
              <a:rPr lang="en-US" sz="1200" dirty="0">
                <a:solidFill>
                  <a:srgbClr val="C4D4EA"/>
                </a:solidFill>
                <a:latin typeface="Calibri" pitchFamily="34" charset="0"/>
                <a:ea typeface="Calibri" pitchFamily="34" charset="-122"/>
                <a:cs typeface="Calibri" pitchFamily="34" charset="-120"/>
              </a:rPr>
              <a:t>Signer proxy, simulation, and typed-data decode paths — findings published and fixed</a:t>
            </a:r>
            <a:endParaRPr lang="en-US" sz="1200" dirty="0"/>
          </a:p>
        </p:txBody>
      </p:sp>
      <p:sp>
        <p:nvSpPr>
          <p:cNvPr id="9" name="Shape 6"/>
          <p:cNvSpPr/>
          <p:nvPr/>
        </p:nvSpPr>
        <p:spPr>
          <a:xfrm>
            <a:off x="4343400" y="1691640"/>
            <a:ext cx="3429000" cy="3566160"/>
          </a:xfrm>
          <a:prstGeom prst="roundRect">
            <a:avLst>
              <a:gd name="adj" fmla="val 3200"/>
            </a:avLst>
          </a:prstGeom>
          <a:solidFill>
            <a:srgbClr val="0E1726"/>
          </a:solidFill>
          <a:ln/>
        </p:spPr>
      </p:sp>
      <p:sp>
        <p:nvSpPr>
          <p:cNvPr id="10" name="Shape 7"/>
          <p:cNvSpPr/>
          <p:nvPr/>
        </p:nvSpPr>
        <p:spPr>
          <a:xfrm>
            <a:off x="4663440" y="2011680"/>
            <a:ext cx="640080" cy="640080"/>
          </a:xfrm>
          <a:prstGeom prst="ellipse">
            <a:avLst/>
          </a:prstGeom>
          <a:solidFill>
            <a:srgbClr val="182436"/>
          </a:solidFill>
          <a:ln/>
        </p:spPr>
      </p:sp>
      <p:pic>
        <p:nvPicPr>
          <p:cNvPr id="11" name="Image 1" descr="preencoded.png">    </p:cNvPr>
          <p:cNvPicPr>
            <a:picLocks noChangeAspect="1"/>
          </p:cNvPicPr>
          <p:nvPr/>
        </p:nvPicPr>
        <p:blipFill>
          <a:blip r:embed="rId2"/>
          <a:stretch>
            <a:fillRect/>
          </a:stretch>
        </p:blipFill>
        <p:spPr>
          <a:xfrm>
            <a:off x="4809744" y="2157984"/>
            <a:ext cx="347472" cy="347472"/>
          </a:xfrm>
          <a:prstGeom prst="rect">
            <a:avLst/>
          </a:prstGeom>
        </p:spPr>
      </p:pic>
      <p:sp>
        <p:nvSpPr>
          <p:cNvPr id="12" name="Text 8"/>
          <p:cNvSpPr/>
          <p:nvPr/>
        </p:nvSpPr>
        <p:spPr>
          <a:xfrm>
            <a:off x="4617720" y="2788920"/>
            <a:ext cx="2880360" cy="822960"/>
          </a:xfrm>
          <a:prstGeom prst="rect">
            <a:avLst/>
          </a:prstGeom>
          <a:noFill/>
          <a:ln/>
        </p:spPr>
        <p:txBody>
          <a:bodyPr wrap="square" lIns="0" tIns="0" rIns="0" bIns="0" rtlCol="0" anchor="ctr"/>
          <a:lstStyle/>
          <a:p>
            <a:pPr indent="0" marL="0">
              <a:buNone/>
            </a:pPr>
            <a:r>
              <a:rPr lang="en-US" sz="4400" b="1" dirty="0">
                <a:solidFill>
                  <a:srgbClr val="1FC79A"/>
                </a:solidFill>
                <a:latin typeface="Cambria" pitchFamily="34" charset="0"/>
                <a:ea typeface="Cambria" pitchFamily="34" charset="-122"/>
                <a:cs typeface="Cambria" pitchFamily="34" charset="-120"/>
              </a:rPr>
              <a:t>$18k</a:t>
            </a:r>
            <a:endParaRPr lang="en-US" sz="4400" dirty="0"/>
          </a:p>
        </p:txBody>
      </p:sp>
      <p:sp>
        <p:nvSpPr>
          <p:cNvPr id="13" name="Text 9"/>
          <p:cNvSpPr/>
          <p:nvPr/>
        </p:nvSpPr>
        <p:spPr>
          <a:xfrm>
            <a:off x="4663440" y="3611880"/>
            <a:ext cx="283464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Integrations + v0.4</a:t>
            </a:r>
            <a:endParaRPr lang="en-US" sz="1700" dirty="0"/>
          </a:p>
        </p:txBody>
      </p:sp>
      <p:sp>
        <p:nvSpPr>
          <p:cNvPr id="14" name="Text 10"/>
          <p:cNvSpPr/>
          <p:nvPr/>
        </p:nvSpPr>
        <p:spPr>
          <a:xfrm>
            <a:off x="4663440" y="4069080"/>
            <a:ext cx="2788920" cy="1097280"/>
          </a:xfrm>
          <a:prstGeom prst="rect">
            <a:avLst/>
          </a:prstGeom>
          <a:noFill/>
          <a:ln/>
        </p:spPr>
        <p:txBody>
          <a:bodyPr wrap="square" lIns="0" tIns="0" rIns="0" bIns="0" rtlCol="0" anchor="ctr"/>
          <a:lstStyle/>
          <a:p>
            <a:pPr indent="0" marL="0">
              <a:lnSpc>
                <a:spcPct val="110000"/>
              </a:lnSpc>
              <a:buNone/>
            </a:pPr>
            <a:r>
              <a:rPr lang="en-US" sz="1200" dirty="0">
                <a:solidFill>
                  <a:srgbClr val="C4D4EA"/>
                </a:solidFill>
                <a:latin typeface="Calibri" pitchFamily="34" charset="0"/>
                <a:ea typeface="Calibri" pitchFamily="34" charset="-122"/>
                <a:cs typeface="Calibri" pitchFamily="34" charset="-120"/>
              </a:rPr>
              <a:t>Examples merged upstream into ≥2 agent frameworks; intent-vs-effect LLM layer (research scope)</a:t>
            </a:r>
            <a:endParaRPr lang="en-US" sz="1200" dirty="0"/>
          </a:p>
        </p:txBody>
      </p:sp>
      <p:sp>
        <p:nvSpPr>
          <p:cNvPr id="15" name="Shape 11"/>
          <p:cNvSpPr/>
          <p:nvPr/>
        </p:nvSpPr>
        <p:spPr>
          <a:xfrm>
            <a:off x="8046720" y="1691640"/>
            <a:ext cx="3429000" cy="3566160"/>
          </a:xfrm>
          <a:prstGeom prst="roundRect">
            <a:avLst>
              <a:gd name="adj" fmla="val 3200"/>
            </a:avLst>
          </a:prstGeom>
          <a:solidFill>
            <a:srgbClr val="0E1726"/>
          </a:solidFill>
          <a:ln/>
        </p:spPr>
      </p:sp>
      <p:sp>
        <p:nvSpPr>
          <p:cNvPr id="16" name="Shape 12"/>
          <p:cNvSpPr/>
          <p:nvPr/>
        </p:nvSpPr>
        <p:spPr>
          <a:xfrm>
            <a:off x="8366760" y="2011680"/>
            <a:ext cx="640080" cy="640080"/>
          </a:xfrm>
          <a:prstGeom prst="ellipse">
            <a:avLst/>
          </a:prstGeom>
          <a:solidFill>
            <a:srgbClr val="182436"/>
          </a:solidFill>
          <a:ln/>
        </p:spPr>
      </p:sp>
      <p:pic>
        <p:nvPicPr>
          <p:cNvPr id="17" name="Image 2" descr="preencoded.png">    </p:cNvPr>
          <p:cNvPicPr>
            <a:picLocks noChangeAspect="1"/>
          </p:cNvPicPr>
          <p:nvPr/>
        </p:nvPicPr>
        <p:blipFill>
          <a:blip r:embed="rId3"/>
          <a:stretch>
            <a:fillRect/>
          </a:stretch>
        </p:blipFill>
        <p:spPr>
          <a:xfrm>
            <a:off x="8513064" y="2157984"/>
            <a:ext cx="347472" cy="347472"/>
          </a:xfrm>
          <a:prstGeom prst="rect">
            <a:avLst/>
          </a:prstGeom>
        </p:spPr>
      </p:pic>
      <p:sp>
        <p:nvSpPr>
          <p:cNvPr id="18" name="Text 13"/>
          <p:cNvSpPr/>
          <p:nvPr/>
        </p:nvSpPr>
        <p:spPr>
          <a:xfrm>
            <a:off x="8321040" y="2788920"/>
            <a:ext cx="2880360" cy="822960"/>
          </a:xfrm>
          <a:prstGeom prst="rect">
            <a:avLst/>
          </a:prstGeom>
          <a:noFill/>
          <a:ln/>
        </p:spPr>
        <p:txBody>
          <a:bodyPr wrap="square" lIns="0" tIns="0" rIns="0" bIns="0" rtlCol="0" anchor="ctr"/>
          <a:lstStyle/>
          <a:p>
            <a:pPr indent="0" marL="0">
              <a:buNone/>
            </a:pPr>
            <a:r>
              <a:rPr lang="en-US" sz="4400" b="1" dirty="0">
                <a:solidFill>
                  <a:srgbClr val="1FC79A"/>
                </a:solidFill>
                <a:latin typeface="Cambria" pitchFamily="34" charset="0"/>
                <a:ea typeface="Cambria" pitchFamily="34" charset="-122"/>
                <a:cs typeface="Cambria" pitchFamily="34" charset="-120"/>
              </a:rPr>
              <a:t>$6k</a:t>
            </a:r>
            <a:endParaRPr lang="en-US" sz="4400" dirty="0"/>
          </a:p>
        </p:txBody>
      </p:sp>
      <p:sp>
        <p:nvSpPr>
          <p:cNvPr id="19" name="Text 14"/>
          <p:cNvSpPr/>
          <p:nvPr/>
        </p:nvSpPr>
        <p:spPr>
          <a:xfrm>
            <a:off x="8366760" y="3611880"/>
            <a:ext cx="283464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12-mo maintenance</a:t>
            </a:r>
            <a:endParaRPr lang="en-US" sz="1700" dirty="0"/>
          </a:p>
        </p:txBody>
      </p:sp>
      <p:sp>
        <p:nvSpPr>
          <p:cNvPr id="20" name="Text 15"/>
          <p:cNvSpPr/>
          <p:nvPr/>
        </p:nvSpPr>
        <p:spPr>
          <a:xfrm>
            <a:off x="8366760" y="4069080"/>
            <a:ext cx="2788920" cy="1097280"/>
          </a:xfrm>
          <a:prstGeom prst="rect">
            <a:avLst/>
          </a:prstGeom>
          <a:noFill/>
          <a:ln/>
        </p:spPr>
        <p:txBody>
          <a:bodyPr wrap="square" lIns="0" tIns="0" rIns="0" bIns="0" rtlCol="0" anchor="ctr"/>
          <a:lstStyle/>
          <a:p>
            <a:pPr indent="0" marL="0">
              <a:lnSpc>
                <a:spcPct val="110000"/>
              </a:lnSpc>
              <a:buNone/>
            </a:pPr>
            <a:r>
              <a:rPr lang="en-US" sz="1200" dirty="0">
                <a:solidFill>
                  <a:srgbClr val="C4D4EA"/>
                </a:solidFill>
                <a:latin typeface="Calibri" pitchFamily="34" charset="0"/>
                <a:ea typeface="Calibri" pitchFamily="34" charset="-122"/>
                <a:cs typeface="Calibri" pitchFamily="34" charset="-120"/>
              </a:rPr>
              <a:t>Threat-feed operations, decoder registry, security response — the part that keeps it trustworthy</a:t>
            </a:r>
            <a:endParaRPr lang="en-US" sz="1200" dirty="0"/>
          </a:p>
        </p:txBody>
      </p:sp>
      <p:sp>
        <p:nvSpPr>
          <p:cNvPr id="21" name="Text 16"/>
          <p:cNvSpPr/>
          <p:nvPr/>
        </p:nvSpPr>
        <p:spPr>
          <a:xfrm>
            <a:off x="640080" y="5577840"/>
            <a:ext cx="10881360" cy="457200"/>
          </a:xfrm>
          <a:prstGeom prst="rect">
            <a:avLst/>
          </a:prstGeom>
          <a:noFill/>
          <a:ln/>
        </p:spPr>
        <p:txBody>
          <a:bodyPr wrap="square" lIns="0" tIns="0" rIns="0" bIns="0" rtlCol="0" anchor="ctr"/>
          <a:lstStyle/>
          <a:p>
            <a:pPr algn="ctr" indent="0" marL="0">
              <a:buNone/>
            </a:pPr>
            <a:r>
              <a:rPr lang="en-US" sz="1600" b="1" dirty="0">
                <a:solidFill>
                  <a:srgbClr val="15243B"/>
                </a:solidFill>
                <a:latin typeface="Calibri" pitchFamily="34" charset="0"/>
                <a:ea typeface="Calibri" pitchFamily="34" charset="-122"/>
                <a:cs typeface="Calibri" pitchFamily="34" charset="-120"/>
              </a:rPr>
              <a:t>$36k total (EF ESP)   ·   </a:t>
            </a:r>
            <a:pPr algn="ctr" indent="0" marL="0">
              <a:buNone/>
            </a:pPr>
            <a:r>
              <a:rPr lang="en-US" sz="1600" dirty="0">
                <a:solidFill>
                  <a:srgbClr val="5B6B80"/>
                </a:solidFill>
                <a:latin typeface="Calibri" pitchFamily="34" charset="0"/>
                <a:ea typeface="Calibri" pitchFamily="34" charset="-122"/>
                <a:cs typeface="Calibri" pitchFamily="34" charset="-120"/>
              </a:rPr>
              <a:t>Base Builder Grants variant: 2–5 ETH, integration-and-audit framing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Verify every claim in 2 minutes</a:t>
            </a:r>
            <a:endParaRPr lang="en-US" sz="3400" dirty="0"/>
          </a:p>
        </p:txBody>
      </p:sp>
      <p:sp>
        <p:nvSpPr>
          <p:cNvPr id="3" name="Shape 1"/>
          <p:cNvSpPr/>
          <p:nvPr/>
        </p:nvSpPr>
        <p:spPr>
          <a:xfrm>
            <a:off x="1280160" y="1645920"/>
            <a:ext cx="9601200" cy="2286000"/>
          </a:xfrm>
          <a:prstGeom prst="roundRect">
            <a:avLst>
              <a:gd name="adj" fmla="val 4000"/>
            </a:avLst>
          </a:prstGeom>
          <a:solidFill>
            <a:srgbClr val="182436"/>
          </a:solidFill>
          <a:ln/>
        </p:spPr>
      </p:sp>
      <p:sp>
        <p:nvSpPr>
          <p:cNvPr id="4" name="Text 2"/>
          <p:cNvSpPr/>
          <p:nvPr/>
        </p:nvSpPr>
        <p:spPr>
          <a:xfrm>
            <a:off x="1645920" y="1965960"/>
            <a:ext cx="8961120" cy="1737360"/>
          </a:xfrm>
          <a:prstGeom prst="rect">
            <a:avLst/>
          </a:prstGeom>
          <a:noFill/>
          <a:ln/>
        </p:spPr>
        <p:txBody>
          <a:bodyPr wrap="square" lIns="0" tIns="0" rIns="0" bIns="0" rtlCol="0" anchor="ctr"/>
          <a:lstStyle/>
          <a:p>
            <a:pPr indent="0" marL="0">
              <a:lnSpc>
                <a:spcPct val="150000"/>
              </a:lnSpc>
              <a:buNone/>
            </a:pPr>
            <a:r>
              <a:rPr lang="en-US" sz="1600" dirty="0">
                <a:solidFill>
                  <a:srgbClr val="C4D4EA"/>
                </a:solidFill>
                <a:latin typeface="Courier New" pitchFamily="34" charset="0"/>
                <a:ea typeface="Courier New" pitchFamily="34" charset="-122"/>
                <a:cs typeface="Courier New" pitchFamily="34" charset="-120"/>
              </a:rPr>
              <a:t>$ git clone https://github.com/star7js/sentinel &amp;&amp; cd sentinel
</a:t>
            </a:r>
            <a:pPr indent="0" marL="0">
              <a:lnSpc>
                <a:spcPct val="150000"/>
              </a:lnSpc>
              <a:buNone/>
            </a:pPr>
            <a:r>
              <a:rPr lang="en-US" sz="1600" dirty="0">
                <a:solidFill>
                  <a:srgbClr val="C4D4EA"/>
                </a:solidFill>
                <a:latin typeface="Courier New" pitchFamily="34" charset="0"/>
                <a:ea typeface="Courier New" pitchFamily="34" charset="-122"/>
                <a:cs typeface="Courier New" pitchFamily="34" charset="-120"/>
              </a:rPr>
              <a:t>$ npm install &amp;&amp; npm test</a:t>
            </a:r>
            <a:pPr indent="0" marL="0">
              <a:lnSpc>
                <a:spcPct val="150000"/>
              </a:lnSpc>
              <a:buNone/>
            </a:pPr>
            <a:r>
              <a:rPr lang="en-US" sz="1600" dirty="0">
                <a:solidFill>
                  <a:srgbClr val="5B6B80"/>
                </a:solidFill>
                <a:latin typeface="Courier New" pitchFamily="34" charset="0"/>
                <a:ea typeface="Courier New" pitchFamily="34" charset="-122"/>
                <a:cs typeface="Courier New" pitchFamily="34" charset="-120"/>
              </a:rPr>
              <a:t>     # 80 tests, live-node simulation
</a:t>
            </a:r>
            <a:pPr indent="0" marL="0">
              <a:lnSpc>
                <a:spcPct val="150000"/>
              </a:lnSpc>
              <a:buNone/>
            </a:pPr>
            <a:r>
              <a:rPr lang="en-US" sz="1600" b="1" dirty="0">
                <a:solidFill>
                  <a:srgbClr val="1FC79A"/>
                </a:solidFill>
                <a:latin typeface="Courier New" pitchFamily="34" charset="0"/>
                <a:ea typeface="Courier New" pitchFamily="34" charset="-122"/>
                <a:cs typeface="Courier New" pitchFamily="34" charset="-120"/>
              </a:rPr>
              <a:t>$ npm run demo</a:t>
            </a:r>
            <a:pPr indent="0" marL="0">
              <a:lnSpc>
                <a:spcPct val="150000"/>
              </a:lnSpc>
              <a:buNone/>
            </a:pPr>
            <a:r>
              <a:rPr lang="en-US" sz="1600" dirty="0">
                <a:solidFill>
                  <a:srgbClr val="5B6B80"/>
                </a:solidFill>
                <a:latin typeface="Courier New" pitchFamily="34" charset="0"/>
                <a:ea typeface="Courier New" pitchFamily="34" charset="-122"/>
                <a:cs typeface="Courier New" pitchFamily="34" charset="-120"/>
              </a:rPr>
              <a:t>                # the attack, replayed and blocked</a:t>
            </a:r>
            <a:endParaRPr lang="en-US" sz="1600" dirty="0"/>
          </a:p>
        </p:txBody>
      </p:sp>
      <p:pic>
        <p:nvPicPr>
          <p:cNvPr id="5" name="Image 0" descr="preencoded.png">    </p:cNvPr>
          <p:cNvPicPr>
            <a:picLocks noChangeAspect="1"/>
          </p:cNvPicPr>
          <p:nvPr/>
        </p:nvPicPr>
        <p:blipFill>
          <a:blip r:embed="rId1"/>
          <a:stretch>
            <a:fillRect/>
          </a:stretch>
        </p:blipFill>
        <p:spPr>
          <a:xfrm>
            <a:off x="1371600" y="4343400"/>
            <a:ext cx="274320" cy="274320"/>
          </a:xfrm>
          <a:prstGeom prst="rect">
            <a:avLst/>
          </a:prstGeom>
        </p:spPr>
      </p:pic>
      <p:sp>
        <p:nvSpPr>
          <p:cNvPr id="6" name="Text 3"/>
          <p:cNvSpPr/>
          <p:nvPr/>
        </p:nvSpPr>
        <p:spPr>
          <a:xfrm>
            <a:off x="1828800" y="4279392"/>
            <a:ext cx="9144000" cy="411480"/>
          </a:xfrm>
          <a:prstGeom prst="rect">
            <a:avLst/>
          </a:prstGeom>
          <a:noFill/>
          <a:ln/>
        </p:spPr>
        <p:txBody>
          <a:bodyPr wrap="square" lIns="0" tIns="0" rIns="0" bIns="0" rtlCol="0" anchor="ctr"/>
          <a:lstStyle/>
          <a:p>
            <a:pPr indent="0" marL="0">
              <a:buNone/>
            </a:pPr>
            <a:r>
              <a:rPr lang="en-US" sz="1500" dirty="0">
                <a:solidFill>
                  <a:srgbClr val="C4D4EA"/>
                </a:solidFill>
                <a:latin typeface="Calibri" pitchFamily="34" charset="0"/>
                <a:ea typeface="Calibri" pitchFamily="34" charset="-122"/>
                <a:cs typeface="Calibri" pitchFamily="34" charset="-120"/>
              </a:rPr>
              <a:t>CI runs tests + the attack demo against real anvil on every commit</a:t>
            </a:r>
            <a:endParaRPr lang="en-US" sz="1500" dirty="0"/>
          </a:p>
        </p:txBody>
      </p:sp>
      <p:pic>
        <p:nvPicPr>
          <p:cNvPr id="7" name="Image 1" descr="preencoded.png">    </p:cNvPr>
          <p:cNvPicPr>
            <a:picLocks noChangeAspect="1"/>
          </p:cNvPicPr>
          <p:nvPr/>
        </p:nvPicPr>
        <p:blipFill>
          <a:blip r:embed="rId2"/>
          <a:stretch>
            <a:fillRect/>
          </a:stretch>
        </p:blipFill>
        <p:spPr>
          <a:xfrm>
            <a:off x="1371600" y="4910328"/>
            <a:ext cx="274320" cy="274320"/>
          </a:xfrm>
          <a:prstGeom prst="rect">
            <a:avLst/>
          </a:prstGeom>
        </p:spPr>
      </p:pic>
      <p:sp>
        <p:nvSpPr>
          <p:cNvPr id="8" name="Text 4"/>
          <p:cNvSpPr/>
          <p:nvPr/>
        </p:nvSpPr>
        <p:spPr>
          <a:xfrm>
            <a:off x="1828800" y="4846320"/>
            <a:ext cx="9144000" cy="411480"/>
          </a:xfrm>
          <a:prstGeom prst="rect">
            <a:avLst/>
          </a:prstGeom>
          <a:noFill/>
          <a:ln/>
        </p:spPr>
        <p:txBody>
          <a:bodyPr wrap="square" lIns="0" tIns="0" rIns="0" bIns="0" rtlCol="0" anchor="ctr"/>
          <a:lstStyle/>
          <a:p>
            <a:pPr indent="0" marL="0">
              <a:buNone/>
            </a:pPr>
            <a:r>
              <a:rPr lang="en-US" sz="1500" dirty="0">
                <a:solidFill>
                  <a:srgbClr val="C4D4EA"/>
                </a:solidFill>
                <a:latin typeface="Calibri" pitchFamily="34" charset="0"/>
                <a:ea typeface="Calibri" pitchFamily="34" charset="-122"/>
                <a:cs typeface="Calibri" pitchFamily="34" charset="-120"/>
              </a:rPr>
              <a:t>Known residual risks disclosed in SPEC §10 — limits stated, not hidden</a:t>
            </a:r>
            <a:endParaRPr lang="en-US" sz="1500" dirty="0"/>
          </a:p>
        </p:txBody>
      </p:sp>
      <p:pic>
        <p:nvPicPr>
          <p:cNvPr id="9" name="Image 2" descr="preencoded.png">    </p:cNvPr>
          <p:cNvPicPr>
            <a:picLocks noChangeAspect="1"/>
          </p:cNvPicPr>
          <p:nvPr/>
        </p:nvPicPr>
        <p:blipFill>
          <a:blip r:embed="rId3"/>
          <a:stretch>
            <a:fillRect/>
          </a:stretch>
        </p:blipFill>
        <p:spPr>
          <a:xfrm>
            <a:off x="1371600" y="5477256"/>
            <a:ext cx="274320" cy="274320"/>
          </a:xfrm>
          <a:prstGeom prst="rect">
            <a:avLst/>
          </a:prstGeom>
        </p:spPr>
      </p:pic>
      <p:sp>
        <p:nvSpPr>
          <p:cNvPr id="10" name="Text 5"/>
          <p:cNvSpPr/>
          <p:nvPr/>
        </p:nvSpPr>
        <p:spPr>
          <a:xfrm>
            <a:off x="1828800" y="5413248"/>
            <a:ext cx="9144000" cy="411480"/>
          </a:xfrm>
          <a:prstGeom prst="rect">
            <a:avLst/>
          </a:prstGeom>
          <a:noFill/>
          <a:ln/>
        </p:spPr>
        <p:txBody>
          <a:bodyPr wrap="square" lIns="0" tIns="0" rIns="0" bIns="0" rtlCol="0" anchor="ctr"/>
          <a:lstStyle/>
          <a:p>
            <a:pPr indent="0" marL="0">
              <a:buNone/>
            </a:pPr>
            <a:r>
              <a:rPr lang="en-US" sz="1500" dirty="0">
                <a:solidFill>
                  <a:srgbClr val="C4D4EA"/>
                </a:solidFill>
                <a:latin typeface="Calibri" pitchFamily="34" charset="0"/>
                <a:ea typeface="Calibri" pitchFamily="34" charset="-122"/>
                <a:cs typeface="Calibri" pitchFamily="34" charset="-120"/>
              </a:rPr>
              <a:t>SECURITY.md: private advisories; any failure-to-ALLOW is treated as critical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685800" cy="685800"/>
          </a:xfrm>
          <a:prstGeom prst="ellipse">
            <a:avLst/>
          </a:prstGeom>
          <a:solidFill>
            <a:srgbClr val="0052FF"/>
          </a:solidFill>
          <a:ln/>
        </p:spPr>
      </p:sp>
      <p:pic>
        <p:nvPicPr>
          <p:cNvPr id="3" name="Image 0" descr="preencoded.png">    </p:cNvPr>
          <p:cNvPicPr>
            <a:picLocks noChangeAspect="1"/>
          </p:cNvPicPr>
          <p:nvPr/>
        </p:nvPicPr>
        <p:blipFill>
          <a:blip r:embed="rId1"/>
          <a:stretch>
            <a:fillRect/>
          </a:stretch>
        </p:blipFill>
        <p:spPr>
          <a:xfrm>
            <a:off x="795528" y="612648"/>
            <a:ext cx="374904" cy="374904"/>
          </a:xfrm>
          <a:prstGeom prst="rect">
            <a:avLst/>
          </a:prstGeom>
        </p:spPr>
      </p:pic>
      <p:sp>
        <p:nvSpPr>
          <p:cNvPr id="4" name="Text 1"/>
          <p:cNvSpPr/>
          <p:nvPr/>
        </p:nvSpPr>
        <p:spPr>
          <a:xfrm>
            <a:off x="1508760" y="502920"/>
            <a:ext cx="10058400" cy="640080"/>
          </a:xfrm>
          <a:prstGeom prst="rect">
            <a:avLst/>
          </a:prstGeom>
          <a:noFill/>
          <a:ln/>
        </p:spPr>
        <p:txBody>
          <a:bodyPr wrap="square" lIns="0" tIns="0" rIns="0" bIns="0" rtlCol="0" anchor="ctr"/>
          <a:lstStyle/>
          <a:p>
            <a:pPr indent="0" marL="0">
              <a:buNone/>
            </a:pPr>
            <a:r>
              <a:rPr lang="en-US" sz="3200" b="1" dirty="0">
                <a:solidFill>
                  <a:srgbClr val="15243B"/>
                </a:solidFill>
                <a:latin typeface="Cambria" pitchFamily="34" charset="0"/>
                <a:ea typeface="Cambria" pitchFamily="34" charset="-122"/>
                <a:cs typeface="Cambria" pitchFamily="34" charset="-120"/>
              </a:rPr>
              <a:t>Approaching Base Builder Grants</a:t>
            </a:r>
            <a:endParaRPr lang="en-US" sz="3200" dirty="0"/>
          </a:p>
        </p:txBody>
      </p:sp>
      <p:sp>
        <p:nvSpPr>
          <p:cNvPr id="5" name="Text 2"/>
          <p:cNvSpPr/>
          <p:nvPr/>
        </p:nvSpPr>
        <p:spPr>
          <a:xfrm>
            <a:off x="685800" y="1554480"/>
            <a:ext cx="502920" cy="502920"/>
          </a:xfrm>
          <a:prstGeom prst="rect">
            <a:avLst/>
          </a:prstGeom>
          <a:noFill/>
          <a:ln/>
        </p:spPr>
        <p:txBody>
          <a:bodyPr wrap="square" lIns="0" tIns="0" rIns="0" bIns="0" rtlCol="0" anchor="ctr"/>
          <a:lstStyle/>
          <a:p>
            <a:pPr algn="ctr" indent="0" marL="0">
              <a:buNone/>
            </a:pPr>
            <a:r>
              <a:rPr lang="en-US" sz="2400" b="1" dirty="0">
                <a:solidFill>
                  <a:srgbClr val="0052FF"/>
                </a:solidFill>
                <a:latin typeface="Cambria" pitchFamily="34" charset="0"/>
                <a:ea typeface="Cambria" pitchFamily="34" charset="-122"/>
                <a:cs typeface="Cambria" pitchFamily="34" charset="-120"/>
              </a:rPr>
              <a:t>1</a:t>
            </a:r>
            <a:endParaRPr lang="en-US" sz="2400" dirty="0"/>
          </a:p>
        </p:txBody>
      </p:sp>
      <p:sp>
        <p:nvSpPr>
          <p:cNvPr id="6" name="Text 3"/>
          <p:cNvSpPr/>
          <p:nvPr/>
        </p:nvSpPr>
        <p:spPr>
          <a:xfrm>
            <a:off x="1371600" y="1508760"/>
            <a:ext cx="9966960" cy="365760"/>
          </a:xfrm>
          <a:prstGeom prst="rect">
            <a:avLst/>
          </a:prstGeom>
          <a:noFill/>
          <a:ln/>
        </p:spPr>
        <p:txBody>
          <a:bodyPr wrap="square" lIns="0" tIns="0" rIns="0" bIns="0" rtlCol="0" anchor="ctr"/>
          <a:lstStyle/>
          <a:p>
            <a:pPr indent="0" marL="0">
              <a:buNone/>
            </a:pPr>
            <a:r>
              <a:rPr lang="en-US" sz="1700" b="1" dirty="0">
                <a:solidFill>
                  <a:srgbClr val="15243B"/>
                </a:solidFill>
                <a:latin typeface="Cambria" pitchFamily="34" charset="0"/>
                <a:ea typeface="Cambria" pitchFamily="34" charset="-122"/>
                <a:cs typeface="Cambria" pitchFamily="34" charset="-120"/>
              </a:rPr>
              <a:t>Lead with the product, not the proposal</a:t>
            </a:r>
            <a:endParaRPr lang="en-US" sz="1700" dirty="0"/>
          </a:p>
        </p:txBody>
      </p:sp>
      <p:sp>
        <p:nvSpPr>
          <p:cNvPr id="7" name="Text 4"/>
          <p:cNvSpPr/>
          <p:nvPr/>
        </p:nvSpPr>
        <p:spPr>
          <a:xfrm>
            <a:off x="1371600" y="1892808"/>
            <a:ext cx="9966960" cy="685800"/>
          </a:xfrm>
          <a:prstGeom prst="rect">
            <a:avLst/>
          </a:prstGeom>
          <a:noFill/>
          <a:ln/>
        </p:spPr>
        <p:txBody>
          <a:bodyPr wrap="square" lIns="0" tIns="0" rIns="0" bIns="0" rtlCol="0" anchor="ctr"/>
          <a:lstStyle/>
          <a:p>
            <a:pPr indent="0" marL="0">
              <a:lnSpc>
                <a:spcPct val="108000"/>
              </a:lnSpc>
              <a:buNone/>
            </a:pPr>
            <a:r>
              <a:rPr lang="en-US" sz="1350" dirty="0">
                <a:solidFill>
                  <a:srgbClr val="5B6B80"/>
                </a:solidFill>
                <a:latin typeface="Calibri" pitchFamily="34" charset="0"/>
                <a:ea typeface="Calibri" pitchFamily="34" charset="-122"/>
                <a:cs typeface="Calibri" pitchFamily="34" charset="-120"/>
              </a:rPr>
              <a:t>Base grants reward things that already work on Base. Open with the demo and the Base-native defaults (chain 8453, USDC caps) — the one-pager in docs/grants/base-builder.md is the template.</a:t>
            </a:r>
            <a:endParaRPr lang="en-US" sz="1350" dirty="0"/>
          </a:p>
        </p:txBody>
      </p:sp>
      <p:sp>
        <p:nvSpPr>
          <p:cNvPr id="8" name="Text 5"/>
          <p:cNvSpPr/>
          <p:nvPr/>
        </p:nvSpPr>
        <p:spPr>
          <a:xfrm>
            <a:off x="685800" y="2761488"/>
            <a:ext cx="502920" cy="502920"/>
          </a:xfrm>
          <a:prstGeom prst="rect">
            <a:avLst/>
          </a:prstGeom>
          <a:noFill/>
          <a:ln/>
        </p:spPr>
        <p:txBody>
          <a:bodyPr wrap="square" lIns="0" tIns="0" rIns="0" bIns="0" rtlCol="0" anchor="ctr"/>
          <a:lstStyle/>
          <a:p>
            <a:pPr algn="ctr" indent="0" marL="0">
              <a:buNone/>
            </a:pPr>
            <a:r>
              <a:rPr lang="en-US" sz="2400" b="1" dirty="0">
                <a:solidFill>
                  <a:srgbClr val="0052FF"/>
                </a:solidFill>
                <a:latin typeface="Cambria" pitchFamily="34" charset="0"/>
                <a:ea typeface="Cambria" pitchFamily="34" charset="-122"/>
                <a:cs typeface="Cambria" pitchFamily="34" charset="-120"/>
              </a:rPr>
              <a:t>2</a:t>
            </a:r>
            <a:endParaRPr lang="en-US" sz="2400" dirty="0"/>
          </a:p>
        </p:txBody>
      </p:sp>
      <p:sp>
        <p:nvSpPr>
          <p:cNvPr id="9" name="Text 6"/>
          <p:cNvSpPr/>
          <p:nvPr/>
        </p:nvSpPr>
        <p:spPr>
          <a:xfrm>
            <a:off x="1371600" y="2715768"/>
            <a:ext cx="9966960" cy="365760"/>
          </a:xfrm>
          <a:prstGeom prst="rect">
            <a:avLst/>
          </a:prstGeom>
          <a:noFill/>
          <a:ln/>
        </p:spPr>
        <p:txBody>
          <a:bodyPr wrap="square" lIns="0" tIns="0" rIns="0" bIns="0" rtlCol="0" anchor="ctr"/>
          <a:lstStyle/>
          <a:p>
            <a:pPr indent="0" marL="0">
              <a:buNone/>
            </a:pPr>
            <a:r>
              <a:rPr lang="en-US" sz="1700" b="1" dirty="0">
                <a:solidFill>
                  <a:srgbClr val="15243B"/>
                </a:solidFill>
                <a:latin typeface="Cambria" pitchFamily="34" charset="0"/>
                <a:ea typeface="Cambria" pitchFamily="34" charset="-122"/>
                <a:cs typeface="Cambria" pitchFamily="34" charset="-120"/>
              </a:rPr>
              <a:t>Keep the ask in-band</a:t>
            </a:r>
            <a:endParaRPr lang="en-US" sz="1700" dirty="0"/>
          </a:p>
        </p:txBody>
      </p:sp>
      <p:sp>
        <p:nvSpPr>
          <p:cNvPr id="10" name="Text 7"/>
          <p:cNvSpPr/>
          <p:nvPr/>
        </p:nvSpPr>
        <p:spPr>
          <a:xfrm>
            <a:off x="1371600" y="3099816"/>
            <a:ext cx="9966960" cy="685800"/>
          </a:xfrm>
          <a:prstGeom prst="rect">
            <a:avLst/>
          </a:prstGeom>
          <a:noFill/>
          <a:ln/>
        </p:spPr>
        <p:txBody>
          <a:bodyPr wrap="square" lIns="0" tIns="0" rIns="0" bIns="0" rtlCol="0" anchor="ctr"/>
          <a:lstStyle/>
          <a:p>
            <a:pPr indent="0" marL="0">
              <a:lnSpc>
                <a:spcPct val="108000"/>
              </a:lnSpc>
              <a:buNone/>
            </a:pPr>
            <a:r>
              <a:rPr lang="en-US" sz="1350" dirty="0">
                <a:solidFill>
                  <a:srgbClr val="5B6B80"/>
                </a:solidFill>
                <a:latin typeface="Calibri" pitchFamily="34" charset="0"/>
                <a:ea typeface="Calibri" pitchFamily="34" charset="-122"/>
                <a:cs typeface="Calibri" pitchFamily="34" charset="-120"/>
              </a:rPr>
              <a:t>2–5 ETH, matching the standard tier. Small, fast, retroactive-leaning — do not send them the $36k program.</a:t>
            </a:r>
            <a:endParaRPr lang="en-US" sz="1350" dirty="0"/>
          </a:p>
        </p:txBody>
      </p:sp>
      <p:sp>
        <p:nvSpPr>
          <p:cNvPr id="11" name="Text 8"/>
          <p:cNvSpPr/>
          <p:nvPr/>
        </p:nvSpPr>
        <p:spPr>
          <a:xfrm>
            <a:off x="685800" y="3968496"/>
            <a:ext cx="502920" cy="502920"/>
          </a:xfrm>
          <a:prstGeom prst="rect">
            <a:avLst/>
          </a:prstGeom>
          <a:noFill/>
          <a:ln/>
        </p:spPr>
        <p:txBody>
          <a:bodyPr wrap="square" lIns="0" tIns="0" rIns="0" bIns="0" rtlCol="0" anchor="ctr"/>
          <a:lstStyle/>
          <a:p>
            <a:pPr algn="ctr" indent="0" marL="0">
              <a:buNone/>
            </a:pPr>
            <a:r>
              <a:rPr lang="en-US" sz="2400" b="1" dirty="0">
                <a:solidFill>
                  <a:srgbClr val="0052FF"/>
                </a:solidFill>
                <a:latin typeface="Cambria" pitchFamily="34" charset="0"/>
                <a:ea typeface="Cambria" pitchFamily="34" charset="-122"/>
                <a:cs typeface="Cambria" pitchFamily="34" charset="-120"/>
              </a:rPr>
              <a:t>3</a:t>
            </a:r>
            <a:endParaRPr lang="en-US" sz="2400" dirty="0"/>
          </a:p>
        </p:txBody>
      </p:sp>
      <p:sp>
        <p:nvSpPr>
          <p:cNvPr id="12" name="Text 9"/>
          <p:cNvSpPr/>
          <p:nvPr/>
        </p:nvSpPr>
        <p:spPr>
          <a:xfrm>
            <a:off x="1371600" y="3922776"/>
            <a:ext cx="9966960" cy="365760"/>
          </a:xfrm>
          <a:prstGeom prst="rect">
            <a:avLst/>
          </a:prstGeom>
          <a:noFill/>
          <a:ln/>
        </p:spPr>
        <p:txBody>
          <a:bodyPr wrap="square" lIns="0" tIns="0" rIns="0" bIns="0" rtlCol="0" anchor="ctr"/>
          <a:lstStyle/>
          <a:p>
            <a:pPr indent="0" marL="0">
              <a:buNone/>
            </a:pPr>
            <a:r>
              <a:rPr lang="en-US" sz="1700" b="1" dirty="0">
                <a:solidFill>
                  <a:srgbClr val="15243B"/>
                </a:solidFill>
                <a:latin typeface="Cambria" pitchFamily="34" charset="0"/>
                <a:ea typeface="Cambria" pitchFamily="34" charset="-122"/>
                <a:cs typeface="Cambria" pitchFamily="34" charset="-120"/>
              </a:rPr>
              <a:t>Be visible before and after applying</a:t>
            </a:r>
            <a:endParaRPr lang="en-US" sz="1700" dirty="0"/>
          </a:p>
        </p:txBody>
      </p:sp>
      <p:sp>
        <p:nvSpPr>
          <p:cNvPr id="13" name="Text 10"/>
          <p:cNvSpPr/>
          <p:nvPr/>
        </p:nvSpPr>
        <p:spPr>
          <a:xfrm>
            <a:off x="1371600" y="4306824"/>
            <a:ext cx="9966960" cy="685800"/>
          </a:xfrm>
          <a:prstGeom prst="rect">
            <a:avLst/>
          </a:prstGeom>
          <a:noFill/>
          <a:ln/>
        </p:spPr>
        <p:txBody>
          <a:bodyPr wrap="square" lIns="0" tIns="0" rIns="0" bIns="0" rtlCol="0" anchor="ctr"/>
          <a:lstStyle/>
          <a:p>
            <a:pPr indent="0" marL="0">
              <a:lnSpc>
                <a:spcPct val="108000"/>
              </a:lnSpc>
              <a:buNone/>
            </a:pPr>
            <a:r>
              <a:rPr lang="en-US" sz="1350" dirty="0">
                <a:solidFill>
                  <a:srgbClr val="5B6B80"/>
                </a:solidFill>
                <a:latin typeface="Calibri" pitchFamily="34" charset="0"/>
                <a:ea typeface="Calibri" pitchFamily="34" charset="-122"/>
                <a:cs typeface="Calibri" pitchFamily="34" charset="-120"/>
              </a:rPr>
              <a:t>Post the attack-blocked demo publicly, tag the Base ecosystem, engage their devrel. Base grants often find projects through builder activity, not just forms.</a:t>
            </a:r>
            <a:endParaRPr lang="en-US" sz="1350" dirty="0"/>
          </a:p>
        </p:txBody>
      </p:sp>
      <p:sp>
        <p:nvSpPr>
          <p:cNvPr id="14" name="Text 11"/>
          <p:cNvSpPr/>
          <p:nvPr/>
        </p:nvSpPr>
        <p:spPr>
          <a:xfrm>
            <a:off x="685800" y="5175504"/>
            <a:ext cx="502920" cy="502920"/>
          </a:xfrm>
          <a:prstGeom prst="rect">
            <a:avLst/>
          </a:prstGeom>
          <a:noFill/>
          <a:ln/>
        </p:spPr>
        <p:txBody>
          <a:bodyPr wrap="square" lIns="0" tIns="0" rIns="0" bIns="0" rtlCol="0" anchor="ctr"/>
          <a:lstStyle/>
          <a:p>
            <a:pPr algn="ctr" indent="0" marL="0">
              <a:buNone/>
            </a:pPr>
            <a:r>
              <a:rPr lang="en-US" sz="2400" b="1" dirty="0">
                <a:solidFill>
                  <a:srgbClr val="0052FF"/>
                </a:solidFill>
                <a:latin typeface="Cambria" pitchFamily="34" charset="0"/>
                <a:ea typeface="Cambria" pitchFamily="34" charset="-122"/>
                <a:cs typeface="Cambria" pitchFamily="34" charset="-120"/>
              </a:rPr>
              <a:t>4</a:t>
            </a:r>
            <a:endParaRPr lang="en-US" sz="2400" dirty="0"/>
          </a:p>
        </p:txBody>
      </p:sp>
      <p:sp>
        <p:nvSpPr>
          <p:cNvPr id="15" name="Text 12"/>
          <p:cNvSpPr/>
          <p:nvPr/>
        </p:nvSpPr>
        <p:spPr>
          <a:xfrm>
            <a:off x="1371600" y="5129784"/>
            <a:ext cx="9966960" cy="365760"/>
          </a:xfrm>
          <a:prstGeom prst="rect">
            <a:avLst/>
          </a:prstGeom>
          <a:noFill/>
          <a:ln/>
        </p:spPr>
        <p:txBody>
          <a:bodyPr wrap="square" lIns="0" tIns="0" rIns="0" bIns="0" rtlCol="0" anchor="ctr"/>
          <a:lstStyle/>
          <a:p>
            <a:pPr indent="0" marL="0">
              <a:buNone/>
            </a:pPr>
            <a:r>
              <a:rPr lang="en-US" sz="1700" b="1" dirty="0">
                <a:solidFill>
                  <a:srgbClr val="15243B"/>
                </a:solidFill>
                <a:latin typeface="Cambria" pitchFamily="34" charset="0"/>
                <a:ea typeface="Cambria" pitchFamily="34" charset="-122"/>
                <a:cs typeface="Cambria" pitchFamily="34" charset="-120"/>
              </a:rPr>
              <a:t>Offer the integration angle</a:t>
            </a:r>
            <a:endParaRPr lang="en-US" sz="1700" dirty="0"/>
          </a:p>
        </p:txBody>
      </p:sp>
      <p:sp>
        <p:nvSpPr>
          <p:cNvPr id="16" name="Text 13"/>
          <p:cNvSpPr/>
          <p:nvPr/>
        </p:nvSpPr>
        <p:spPr>
          <a:xfrm>
            <a:off x="1371600" y="5513832"/>
            <a:ext cx="9966960" cy="685800"/>
          </a:xfrm>
          <a:prstGeom prst="rect">
            <a:avLst/>
          </a:prstGeom>
          <a:noFill/>
          <a:ln/>
        </p:spPr>
        <p:txBody>
          <a:bodyPr wrap="square" lIns="0" tIns="0" rIns="0" bIns="0" rtlCol="0" anchor="ctr"/>
          <a:lstStyle/>
          <a:p>
            <a:pPr indent="0" marL="0">
              <a:lnSpc>
                <a:spcPct val="108000"/>
              </a:lnSpc>
              <a:buNone/>
            </a:pPr>
            <a:r>
              <a:rPr lang="en-US" sz="1350" dirty="0">
                <a:solidFill>
                  <a:srgbClr val="5B6B80"/>
                </a:solidFill>
                <a:latin typeface="Calibri" pitchFamily="34" charset="0"/>
                <a:ea typeface="Calibri" pitchFamily="34" charset="-122"/>
                <a:cs typeface="Calibri" pitchFamily="34" charset="-120"/>
              </a:rPr>
              <a:t>Every Base agent framework can adopt this in one line. Offer to pair with their ecosystem teams — that is the part of the ask Base uniquely cares about.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685800" cy="685800"/>
          </a:xfrm>
          <a:prstGeom prst="ellipse">
            <a:avLst/>
          </a:prstGeom>
          <a:solidFill>
            <a:srgbClr val="627EEA"/>
          </a:solidFill>
          <a:ln/>
        </p:spPr>
      </p:sp>
      <p:pic>
        <p:nvPicPr>
          <p:cNvPr id="3" name="Image 0" descr="preencoded.png">    </p:cNvPr>
          <p:cNvPicPr>
            <a:picLocks noChangeAspect="1"/>
          </p:cNvPicPr>
          <p:nvPr/>
        </p:nvPicPr>
        <p:blipFill>
          <a:blip r:embed="rId1"/>
          <a:stretch>
            <a:fillRect/>
          </a:stretch>
        </p:blipFill>
        <p:spPr>
          <a:xfrm>
            <a:off x="795528" y="612648"/>
            <a:ext cx="374904" cy="374904"/>
          </a:xfrm>
          <a:prstGeom prst="rect">
            <a:avLst/>
          </a:prstGeom>
        </p:spPr>
      </p:pic>
      <p:sp>
        <p:nvSpPr>
          <p:cNvPr id="4" name="Text 1"/>
          <p:cNvSpPr/>
          <p:nvPr/>
        </p:nvSpPr>
        <p:spPr>
          <a:xfrm>
            <a:off x="1508760" y="502920"/>
            <a:ext cx="10058400" cy="640080"/>
          </a:xfrm>
          <a:prstGeom prst="rect">
            <a:avLst/>
          </a:prstGeom>
          <a:noFill/>
          <a:ln/>
        </p:spPr>
        <p:txBody>
          <a:bodyPr wrap="square" lIns="0" tIns="0" rIns="0" bIns="0" rtlCol="0" anchor="ctr"/>
          <a:lstStyle/>
          <a:p>
            <a:pPr indent="0" marL="0">
              <a:buNone/>
            </a:pPr>
            <a:r>
              <a:rPr lang="en-US" sz="3200" b="1" dirty="0">
                <a:solidFill>
                  <a:srgbClr val="15243B"/>
                </a:solidFill>
                <a:latin typeface="Cambria" pitchFamily="34" charset="0"/>
                <a:ea typeface="Cambria" pitchFamily="34" charset="-122"/>
                <a:cs typeface="Cambria" pitchFamily="34" charset="-120"/>
              </a:rPr>
              <a:t>Approaching the Ethereum Foundation (ESP)</a:t>
            </a:r>
            <a:endParaRPr lang="en-US" sz="3200" dirty="0"/>
          </a:p>
        </p:txBody>
      </p:sp>
      <p:sp>
        <p:nvSpPr>
          <p:cNvPr id="5" name="Text 2"/>
          <p:cNvSpPr/>
          <p:nvPr/>
        </p:nvSpPr>
        <p:spPr>
          <a:xfrm>
            <a:off x="685800" y="1554480"/>
            <a:ext cx="502920" cy="502920"/>
          </a:xfrm>
          <a:prstGeom prst="rect">
            <a:avLst/>
          </a:prstGeom>
          <a:noFill/>
          <a:ln/>
        </p:spPr>
        <p:txBody>
          <a:bodyPr wrap="square" lIns="0" tIns="0" rIns="0" bIns="0" rtlCol="0" anchor="ctr"/>
          <a:lstStyle/>
          <a:p>
            <a:pPr algn="ctr" indent="0" marL="0">
              <a:buNone/>
            </a:pPr>
            <a:r>
              <a:rPr lang="en-US" sz="2400" b="1" dirty="0">
                <a:solidFill>
                  <a:srgbClr val="627EEA"/>
                </a:solidFill>
                <a:latin typeface="Cambria" pitchFamily="34" charset="0"/>
                <a:ea typeface="Cambria" pitchFamily="34" charset="-122"/>
                <a:cs typeface="Cambria" pitchFamily="34" charset="-120"/>
              </a:rPr>
              <a:t>1</a:t>
            </a:r>
            <a:endParaRPr lang="en-US" sz="2400" dirty="0"/>
          </a:p>
        </p:txBody>
      </p:sp>
      <p:sp>
        <p:nvSpPr>
          <p:cNvPr id="6" name="Text 3"/>
          <p:cNvSpPr/>
          <p:nvPr/>
        </p:nvSpPr>
        <p:spPr>
          <a:xfrm>
            <a:off x="1371600" y="1508760"/>
            <a:ext cx="9966960" cy="365760"/>
          </a:xfrm>
          <a:prstGeom prst="rect">
            <a:avLst/>
          </a:prstGeom>
          <a:noFill/>
          <a:ln/>
        </p:spPr>
        <p:txBody>
          <a:bodyPr wrap="square" lIns="0" tIns="0" rIns="0" bIns="0" rtlCol="0" anchor="ctr"/>
          <a:lstStyle/>
          <a:p>
            <a:pPr indent="0" marL="0">
              <a:buNone/>
            </a:pPr>
            <a:r>
              <a:rPr lang="en-US" sz="1700" b="1" dirty="0">
                <a:solidFill>
                  <a:srgbClr val="15243B"/>
                </a:solidFill>
                <a:latin typeface="Cambria" pitchFamily="34" charset="0"/>
                <a:ea typeface="Cambria" pitchFamily="34" charset="-122"/>
                <a:cs typeface="Cambria" pitchFamily="34" charset="-120"/>
              </a:rPr>
              <a:t>Frame as ecosystem infrastructure</a:t>
            </a:r>
            <a:endParaRPr lang="en-US" sz="1700" dirty="0"/>
          </a:p>
        </p:txBody>
      </p:sp>
      <p:sp>
        <p:nvSpPr>
          <p:cNvPr id="7" name="Text 4"/>
          <p:cNvSpPr/>
          <p:nvPr/>
        </p:nvSpPr>
        <p:spPr>
          <a:xfrm>
            <a:off x="1371600" y="1892808"/>
            <a:ext cx="9966960" cy="685800"/>
          </a:xfrm>
          <a:prstGeom prst="rect">
            <a:avLst/>
          </a:prstGeom>
          <a:noFill/>
          <a:ln/>
        </p:spPr>
        <p:txBody>
          <a:bodyPr wrap="square" lIns="0" tIns="0" rIns="0" bIns="0" rtlCol="0" anchor="ctr"/>
          <a:lstStyle/>
          <a:p>
            <a:pPr indent="0" marL="0">
              <a:lnSpc>
                <a:spcPct val="108000"/>
              </a:lnSpc>
              <a:buNone/>
            </a:pPr>
            <a:r>
              <a:rPr lang="en-US" sz="1350" dirty="0">
                <a:solidFill>
                  <a:srgbClr val="5B6B80"/>
                </a:solidFill>
                <a:latin typeface="Calibri" pitchFamily="34" charset="0"/>
                <a:ea typeface="Calibri" pitchFamily="34" charset="-122"/>
                <a:cs typeface="Calibri" pitchFamily="34" charset="-120"/>
              </a:rPr>
              <a:t>Neutrality, standards alignment (4337 / 7702 / 712), and the rejected paid tier are the load-bearing arguments — docs/grants/ef-esp.md is written in this register.</a:t>
            </a:r>
            <a:endParaRPr lang="en-US" sz="1350" dirty="0"/>
          </a:p>
        </p:txBody>
      </p:sp>
      <p:sp>
        <p:nvSpPr>
          <p:cNvPr id="8" name="Text 5"/>
          <p:cNvSpPr/>
          <p:nvPr/>
        </p:nvSpPr>
        <p:spPr>
          <a:xfrm>
            <a:off x="685800" y="2761488"/>
            <a:ext cx="502920" cy="502920"/>
          </a:xfrm>
          <a:prstGeom prst="rect">
            <a:avLst/>
          </a:prstGeom>
          <a:noFill/>
          <a:ln/>
        </p:spPr>
        <p:txBody>
          <a:bodyPr wrap="square" lIns="0" tIns="0" rIns="0" bIns="0" rtlCol="0" anchor="ctr"/>
          <a:lstStyle/>
          <a:p>
            <a:pPr algn="ctr" indent="0" marL="0">
              <a:buNone/>
            </a:pPr>
            <a:r>
              <a:rPr lang="en-US" sz="2400" b="1" dirty="0">
                <a:solidFill>
                  <a:srgbClr val="627EEA"/>
                </a:solidFill>
                <a:latin typeface="Cambria" pitchFamily="34" charset="0"/>
                <a:ea typeface="Cambria" pitchFamily="34" charset="-122"/>
                <a:cs typeface="Cambria" pitchFamily="34" charset="-120"/>
              </a:rPr>
              <a:t>2</a:t>
            </a:r>
            <a:endParaRPr lang="en-US" sz="2400" dirty="0"/>
          </a:p>
        </p:txBody>
      </p:sp>
      <p:sp>
        <p:nvSpPr>
          <p:cNvPr id="9" name="Text 6"/>
          <p:cNvSpPr/>
          <p:nvPr/>
        </p:nvSpPr>
        <p:spPr>
          <a:xfrm>
            <a:off x="1371600" y="2715768"/>
            <a:ext cx="9966960" cy="365760"/>
          </a:xfrm>
          <a:prstGeom prst="rect">
            <a:avLst/>
          </a:prstGeom>
          <a:noFill/>
          <a:ln/>
        </p:spPr>
        <p:txBody>
          <a:bodyPr wrap="square" lIns="0" tIns="0" rIns="0" bIns="0" rtlCol="0" anchor="ctr"/>
          <a:lstStyle/>
          <a:p>
            <a:pPr indent="0" marL="0">
              <a:buNone/>
            </a:pPr>
            <a:r>
              <a:rPr lang="en-US" sz="1700" b="1" dirty="0">
                <a:solidFill>
                  <a:srgbClr val="15243B"/>
                </a:solidFill>
                <a:latin typeface="Cambria" pitchFamily="34" charset="0"/>
                <a:ea typeface="Cambria" pitchFamily="34" charset="-122"/>
                <a:cs typeface="Cambria" pitchFamily="34" charset="-120"/>
              </a:rPr>
              <a:t>Pick the track deliberately</a:t>
            </a:r>
            <a:endParaRPr lang="en-US" sz="1700" dirty="0"/>
          </a:p>
        </p:txBody>
      </p:sp>
      <p:sp>
        <p:nvSpPr>
          <p:cNvPr id="10" name="Text 7"/>
          <p:cNvSpPr/>
          <p:nvPr/>
        </p:nvSpPr>
        <p:spPr>
          <a:xfrm>
            <a:off x="1371600" y="3099816"/>
            <a:ext cx="9966960" cy="685800"/>
          </a:xfrm>
          <a:prstGeom prst="rect">
            <a:avLst/>
          </a:prstGeom>
          <a:noFill/>
          <a:ln/>
        </p:spPr>
        <p:txBody>
          <a:bodyPr wrap="square" lIns="0" tIns="0" rIns="0" bIns="0" rtlCol="0" anchor="ctr"/>
          <a:lstStyle/>
          <a:p>
            <a:pPr indent="0" marL="0">
              <a:lnSpc>
                <a:spcPct val="108000"/>
              </a:lnSpc>
              <a:buNone/>
            </a:pPr>
            <a:r>
              <a:rPr lang="en-US" sz="1350" dirty="0">
                <a:solidFill>
                  <a:srgbClr val="5B6B80"/>
                </a:solidFill>
                <a:latin typeface="Calibri" pitchFamily="34" charset="0"/>
                <a:ea typeface="Calibri" pitchFamily="34" charset="-122"/>
                <a:cs typeface="Calibri" pitchFamily="34" charset="-120"/>
              </a:rPr>
              <a:t>Small grants (≤$30k) decide in weeks; project grants take months but fit the full $36k. Either trim the ask to $30k for speed, or accept the longer process.</a:t>
            </a:r>
            <a:endParaRPr lang="en-US" sz="1350" dirty="0"/>
          </a:p>
        </p:txBody>
      </p:sp>
      <p:sp>
        <p:nvSpPr>
          <p:cNvPr id="11" name="Text 8"/>
          <p:cNvSpPr/>
          <p:nvPr/>
        </p:nvSpPr>
        <p:spPr>
          <a:xfrm>
            <a:off x="685800" y="3968496"/>
            <a:ext cx="502920" cy="502920"/>
          </a:xfrm>
          <a:prstGeom prst="rect">
            <a:avLst/>
          </a:prstGeom>
          <a:noFill/>
          <a:ln/>
        </p:spPr>
        <p:txBody>
          <a:bodyPr wrap="square" lIns="0" tIns="0" rIns="0" bIns="0" rtlCol="0" anchor="ctr"/>
          <a:lstStyle/>
          <a:p>
            <a:pPr algn="ctr" indent="0" marL="0">
              <a:buNone/>
            </a:pPr>
            <a:r>
              <a:rPr lang="en-US" sz="2400" b="1" dirty="0">
                <a:solidFill>
                  <a:srgbClr val="627EEA"/>
                </a:solidFill>
                <a:latin typeface="Cambria" pitchFamily="34" charset="0"/>
                <a:ea typeface="Cambria" pitchFamily="34" charset="-122"/>
                <a:cs typeface="Cambria" pitchFamily="34" charset="-120"/>
              </a:rPr>
              <a:t>3</a:t>
            </a:r>
            <a:endParaRPr lang="en-US" sz="2400" dirty="0"/>
          </a:p>
        </p:txBody>
      </p:sp>
      <p:sp>
        <p:nvSpPr>
          <p:cNvPr id="12" name="Text 9"/>
          <p:cNvSpPr/>
          <p:nvPr/>
        </p:nvSpPr>
        <p:spPr>
          <a:xfrm>
            <a:off x="1371600" y="3922776"/>
            <a:ext cx="9966960" cy="365760"/>
          </a:xfrm>
          <a:prstGeom prst="rect">
            <a:avLst/>
          </a:prstGeom>
          <a:noFill/>
          <a:ln/>
        </p:spPr>
        <p:txBody>
          <a:bodyPr wrap="square" lIns="0" tIns="0" rIns="0" bIns="0" rtlCol="0" anchor="ctr"/>
          <a:lstStyle/>
          <a:p>
            <a:pPr indent="0" marL="0">
              <a:buNone/>
            </a:pPr>
            <a:r>
              <a:rPr lang="en-US" sz="1700" b="1" dirty="0">
                <a:solidFill>
                  <a:srgbClr val="15243B"/>
                </a:solidFill>
                <a:latin typeface="Cambria" pitchFamily="34" charset="0"/>
                <a:ea typeface="Cambria" pitchFamily="34" charset="-122"/>
                <a:cs typeface="Cambria" pitchFamily="34" charset="-120"/>
              </a:rPr>
              <a:t>Let the audit anchor the budget</a:t>
            </a:r>
            <a:endParaRPr lang="en-US" sz="1700" dirty="0"/>
          </a:p>
        </p:txBody>
      </p:sp>
      <p:sp>
        <p:nvSpPr>
          <p:cNvPr id="13" name="Text 10"/>
          <p:cNvSpPr/>
          <p:nvPr/>
        </p:nvSpPr>
        <p:spPr>
          <a:xfrm>
            <a:off x="1371600" y="4306824"/>
            <a:ext cx="9966960" cy="685800"/>
          </a:xfrm>
          <a:prstGeom prst="rect">
            <a:avLst/>
          </a:prstGeom>
          <a:noFill/>
          <a:ln/>
        </p:spPr>
        <p:txBody>
          <a:bodyPr wrap="square" lIns="0" tIns="0" rIns="0" bIns="0" rtlCol="0" anchor="ctr"/>
          <a:lstStyle/>
          <a:p>
            <a:pPr indent="0" marL="0">
              <a:lnSpc>
                <a:spcPct val="108000"/>
              </a:lnSpc>
              <a:buNone/>
            </a:pPr>
            <a:r>
              <a:rPr lang="en-US" sz="1350" dirty="0">
                <a:solidFill>
                  <a:srgbClr val="5B6B80"/>
                </a:solidFill>
                <a:latin typeface="Calibri" pitchFamily="34" charset="0"/>
                <a:ea typeface="Calibri" pitchFamily="34" charset="-122"/>
                <a:cs typeface="Calibri" pitchFamily="34" charset="-120"/>
              </a:rPr>
              <a:t>ESP funds audits of public goods readily — it is the least hand-wavy line item and makes the rest credible.</a:t>
            </a:r>
            <a:endParaRPr lang="en-US" sz="1350" dirty="0"/>
          </a:p>
        </p:txBody>
      </p:sp>
      <p:sp>
        <p:nvSpPr>
          <p:cNvPr id="14" name="Text 11"/>
          <p:cNvSpPr/>
          <p:nvPr/>
        </p:nvSpPr>
        <p:spPr>
          <a:xfrm>
            <a:off x="685800" y="5175504"/>
            <a:ext cx="502920" cy="502920"/>
          </a:xfrm>
          <a:prstGeom prst="rect">
            <a:avLst/>
          </a:prstGeom>
          <a:noFill/>
          <a:ln/>
        </p:spPr>
        <p:txBody>
          <a:bodyPr wrap="square" lIns="0" tIns="0" rIns="0" bIns="0" rtlCol="0" anchor="ctr"/>
          <a:lstStyle/>
          <a:p>
            <a:pPr algn="ctr" indent="0" marL="0">
              <a:buNone/>
            </a:pPr>
            <a:r>
              <a:rPr lang="en-US" sz="2400" b="1" dirty="0">
                <a:solidFill>
                  <a:srgbClr val="627EEA"/>
                </a:solidFill>
                <a:latin typeface="Cambria" pitchFamily="34" charset="0"/>
                <a:ea typeface="Cambria" pitchFamily="34" charset="-122"/>
                <a:cs typeface="Cambria" pitchFamily="34" charset="-120"/>
              </a:rPr>
              <a:t>4</a:t>
            </a:r>
            <a:endParaRPr lang="en-US" sz="2400" dirty="0"/>
          </a:p>
        </p:txBody>
      </p:sp>
      <p:sp>
        <p:nvSpPr>
          <p:cNvPr id="15" name="Text 12"/>
          <p:cNvSpPr/>
          <p:nvPr/>
        </p:nvSpPr>
        <p:spPr>
          <a:xfrm>
            <a:off x="1371600" y="5129784"/>
            <a:ext cx="9966960" cy="365760"/>
          </a:xfrm>
          <a:prstGeom prst="rect">
            <a:avLst/>
          </a:prstGeom>
          <a:noFill/>
          <a:ln/>
        </p:spPr>
        <p:txBody>
          <a:bodyPr wrap="square" lIns="0" tIns="0" rIns="0" bIns="0" rtlCol="0" anchor="ctr"/>
          <a:lstStyle/>
          <a:p>
            <a:pPr indent="0" marL="0">
              <a:buNone/>
            </a:pPr>
            <a:r>
              <a:rPr lang="en-US" sz="1700" b="1" dirty="0">
                <a:solidFill>
                  <a:srgbClr val="15243B"/>
                </a:solidFill>
                <a:latin typeface="Cambria" pitchFamily="34" charset="0"/>
                <a:ea typeface="Cambria" pitchFamily="34" charset="-122"/>
                <a:cs typeface="Cambria" pitchFamily="34" charset="-120"/>
              </a:rPr>
              <a:t>Expect written diligence</a:t>
            </a:r>
            <a:endParaRPr lang="en-US" sz="1700" dirty="0"/>
          </a:p>
        </p:txBody>
      </p:sp>
      <p:sp>
        <p:nvSpPr>
          <p:cNvPr id="16" name="Text 13"/>
          <p:cNvSpPr/>
          <p:nvPr/>
        </p:nvSpPr>
        <p:spPr>
          <a:xfrm>
            <a:off x="1371600" y="5513832"/>
            <a:ext cx="9966960" cy="685800"/>
          </a:xfrm>
          <a:prstGeom prst="rect">
            <a:avLst/>
          </a:prstGeom>
          <a:noFill/>
          <a:ln/>
        </p:spPr>
        <p:txBody>
          <a:bodyPr wrap="square" lIns="0" tIns="0" rIns="0" bIns="0" rtlCol="0" anchor="ctr"/>
          <a:lstStyle/>
          <a:p>
            <a:pPr indent="0" marL="0">
              <a:lnSpc>
                <a:spcPct val="108000"/>
              </a:lnSpc>
              <a:buNone/>
            </a:pPr>
            <a:r>
              <a:rPr lang="en-US" sz="1350" dirty="0">
                <a:solidFill>
                  <a:srgbClr val="5B6B80"/>
                </a:solidFill>
                <a:latin typeface="Calibri" pitchFamily="34" charset="0"/>
                <a:ea typeface="Calibri" pitchFamily="34" charset="-122"/>
                <a:cs typeface="Calibri" pitchFamily="34" charset="-120"/>
              </a:rPr>
              <a:t>ESP reviews are asynchronous and technical. Answer their form precisely, link the verify-in-2-minutes flow, and respond to follow-ups fast; a shipped repo turns diligence into confirmation.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726"/>
        </a:solidFill>
      </p:bgPr>
    </p:bg>
    <p:spTree>
      <p:nvGrpSpPr>
        <p:cNvPr id="1" name=""/>
        <p:cNvGrpSpPr/>
        <p:nvPr/>
      </p:nvGrpSpPr>
      <p:grpSpPr>
        <a:xfrm>
          <a:off x="0" y="0"/>
          <a:ext cx="0" cy="0"/>
          <a:chOff x="0" y="0"/>
          <a:chExt cx="0" cy="0"/>
        </a:xfrm>
      </p:grpSpPr>
      <p:sp>
        <p:nvSpPr>
          <p:cNvPr id="2" name="Shape 0"/>
          <p:cNvSpPr/>
          <p:nvPr/>
        </p:nvSpPr>
        <p:spPr>
          <a:xfrm>
            <a:off x="822960" y="1051560"/>
            <a:ext cx="914400" cy="914400"/>
          </a:xfrm>
          <a:prstGeom prst="ellipse">
            <a:avLst/>
          </a:prstGeom>
          <a:solidFill>
            <a:srgbClr val="182436"/>
          </a:solidFill>
          <a:ln/>
        </p:spPr>
      </p:sp>
      <p:pic>
        <p:nvPicPr>
          <p:cNvPr id="3" name="Image 0" descr="preencoded.png">    </p:cNvPr>
          <p:cNvPicPr>
            <a:picLocks noChangeAspect="1"/>
          </p:cNvPicPr>
          <p:nvPr/>
        </p:nvPicPr>
        <p:blipFill>
          <a:blip r:embed="rId1"/>
          <a:stretch>
            <a:fillRect/>
          </a:stretch>
        </p:blipFill>
        <p:spPr>
          <a:xfrm>
            <a:off x="1024128" y="1252728"/>
            <a:ext cx="512064" cy="512064"/>
          </a:xfrm>
          <a:prstGeom prst="rect">
            <a:avLst/>
          </a:prstGeom>
        </p:spPr>
      </p:pic>
      <p:sp>
        <p:nvSpPr>
          <p:cNvPr id="4" name="Text 1"/>
          <p:cNvSpPr/>
          <p:nvPr/>
        </p:nvSpPr>
        <p:spPr>
          <a:xfrm>
            <a:off x="777240" y="2286000"/>
            <a:ext cx="10607040" cy="2377440"/>
          </a:xfrm>
          <a:prstGeom prst="rect">
            <a:avLst/>
          </a:prstGeom>
          <a:noFill/>
          <a:ln/>
        </p:spPr>
        <p:txBody>
          <a:bodyPr wrap="square" lIns="0" tIns="0" rIns="0" bIns="0" rtlCol="0" anchor="ctr"/>
          <a:lstStyle/>
          <a:p>
            <a:pPr indent="0" marL="0">
              <a:lnSpc>
                <a:spcPct val="115000"/>
              </a:lnSpc>
              <a:buNone/>
            </a:pPr>
            <a:r>
              <a:rPr lang="en-US" sz="4200" b="1" dirty="0">
                <a:solidFill>
                  <a:srgbClr val="FFFFFF"/>
                </a:solidFill>
                <a:latin typeface="Cambria" pitchFamily="34" charset="0"/>
                <a:ea typeface="Cambria" pitchFamily="34" charset="-122"/>
                <a:cs typeface="Cambria" pitchFamily="34" charset="-120"/>
              </a:rPr>
              <a:t>The attack is real.</a:t>
            </a:r>
            <a:endParaRPr lang="en-US" sz="4200" dirty="0"/>
          </a:p>
          <a:p>
            <a:pPr indent="0" marL="0">
              <a:lnSpc>
                <a:spcPct val="115000"/>
              </a:lnSpc>
              <a:buNone/>
            </a:pPr>
            <a:r>
              <a:rPr lang="en-US" sz="4200" b="1" dirty="0">
                <a:solidFill>
                  <a:srgbClr val="FFFFFF"/>
                </a:solidFill>
                <a:latin typeface="Cambria" pitchFamily="34" charset="0"/>
                <a:ea typeface="Cambria" pitchFamily="34" charset="-122"/>
                <a:cs typeface="Cambria" pitchFamily="34" charset="-120"/>
              </a:rPr>
              <a:t>The firewall is built.</a:t>
            </a:r>
            <a:endParaRPr lang="en-US" sz="4200" dirty="0"/>
          </a:p>
          <a:p>
            <a:pPr indent="0" marL="0">
              <a:lnSpc>
                <a:spcPct val="115000"/>
              </a:lnSpc>
              <a:buNone/>
            </a:pPr>
            <a:r>
              <a:rPr lang="en-US" sz="4200" b="1" dirty="0">
                <a:solidFill>
                  <a:srgbClr val="FFFFFF"/>
                </a:solidFill>
                <a:latin typeface="Cambria" pitchFamily="34" charset="0"/>
                <a:ea typeface="Cambria" pitchFamily="34" charset="-122"/>
                <a:cs typeface="Cambria" pitchFamily="34" charset="-120"/>
              </a:rPr>
              <a:t>Fund the assurance.</a:t>
            </a:r>
            <a:endParaRPr lang="en-US" sz="4200" dirty="0"/>
          </a:p>
        </p:txBody>
      </p:sp>
      <p:pic>
        <p:nvPicPr>
          <p:cNvPr id="5" name="Image 1" descr="preencoded.png">    </p:cNvPr>
          <p:cNvPicPr>
            <a:picLocks noChangeAspect="1"/>
          </p:cNvPicPr>
          <p:nvPr/>
        </p:nvPicPr>
        <p:blipFill>
          <a:blip r:embed="rId2"/>
          <a:stretch>
            <a:fillRect/>
          </a:stretch>
        </p:blipFill>
        <p:spPr>
          <a:xfrm>
            <a:off x="822960" y="5212080"/>
            <a:ext cx="347472" cy="347472"/>
          </a:xfrm>
          <a:prstGeom prst="rect">
            <a:avLst/>
          </a:prstGeom>
        </p:spPr>
      </p:pic>
      <p:sp>
        <p:nvSpPr>
          <p:cNvPr id="6" name="Text 2"/>
          <p:cNvSpPr/>
          <p:nvPr/>
        </p:nvSpPr>
        <p:spPr>
          <a:xfrm>
            <a:off x="1298448" y="5212080"/>
            <a:ext cx="5029200" cy="365760"/>
          </a:xfrm>
          <a:prstGeom prst="rect">
            <a:avLst/>
          </a:prstGeom>
          <a:noFill/>
          <a:ln/>
        </p:spPr>
        <p:txBody>
          <a:bodyPr wrap="square" lIns="0" tIns="0" rIns="0" bIns="0" rtlCol="0" anchor="ctr"/>
          <a:lstStyle/>
          <a:p>
            <a:pPr indent="0" marL="0">
              <a:buNone/>
            </a:pPr>
            <a:r>
              <a:rPr lang="en-US" sz="1600" dirty="0">
                <a:solidFill>
                  <a:srgbClr val="C4D4EA"/>
                </a:solidFill>
                <a:latin typeface="Courier New" pitchFamily="34" charset="0"/>
                <a:ea typeface="Courier New" pitchFamily="34" charset="-122"/>
                <a:cs typeface="Courier New" pitchFamily="34" charset="-120"/>
              </a:rPr>
              <a:t>github.com/star7js/sentinel</a:t>
            </a:r>
            <a:endParaRPr lang="en-US" sz="1600" dirty="0"/>
          </a:p>
        </p:txBody>
      </p:sp>
      <p:sp>
        <p:nvSpPr>
          <p:cNvPr id="7" name="Text 3"/>
          <p:cNvSpPr/>
          <p:nvPr/>
        </p:nvSpPr>
        <p:spPr>
          <a:xfrm>
            <a:off x="822960" y="5715000"/>
            <a:ext cx="10515600" cy="365760"/>
          </a:xfrm>
          <a:prstGeom prst="rect">
            <a:avLst/>
          </a:prstGeom>
          <a:noFill/>
          <a:ln/>
        </p:spPr>
        <p:txBody>
          <a:bodyPr wrap="square" lIns="0" tIns="0" rIns="0" bIns="0" rtlCol="0" anchor="ctr"/>
          <a:lstStyle/>
          <a:p>
            <a:pPr indent="0" marL="0">
              <a:buNone/>
            </a:pPr>
            <a:r>
              <a:rPr lang="en-US" sz="1300" dirty="0">
                <a:solidFill>
                  <a:srgbClr val="5B6B80"/>
                </a:solidFill>
                <a:latin typeface="Calibri" pitchFamily="34" charset="0"/>
                <a:ea typeface="Calibri" pitchFamily="34" charset="-122"/>
                <a:cs typeface="Calibri" pitchFamily="34" charset="-120"/>
              </a:rPr>
              <a:t>sentinel-firewall on npm   ·   MIT   ·   docs/STATUS.md for where everything stands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2026-07-19T01:14:12Z</dcterms:created>
  <dcterms:modified xsi:type="dcterms:W3CDTF">2026-07-19T01:14:12Z</dcterms:modified>
</cp:coreProperties>
</file>